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3" r:id="rId9"/>
    <p:sldId id="26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5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6/18/2026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6/18/2026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6/18/2026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6/18/2026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6/18/2026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6/18/2026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6/18/2026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6/18/2026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6/18/2026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6/18/2026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6/18/2026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6/18/2026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2CF6DD-7FE8-4063-9551-1B7BBCE92ABE}"/>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1" y="-1"/>
            <a:ext cx="12192000" cy="5004619"/>
          </a:xfrm>
          <a:prstGeom prst="rect">
            <a:avLst/>
          </a:prstGeom>
          <a:noFill/>
        </p:spPr>
      </p:pic>
      <p:sp>
        <p:nvSpPr>
          <p:cNvPr id="2" name="Title 1">
            <a:extLst>
              <a:ext uri="{FF2B5EF4-FFF2-40B4-BE49-F238E27FC236}">
                <a16:creationId xmlns:a16="http://schemas.microsoft.com/office/drawing/2014/main" id="{78FD68DA-43BA-4508-8DE2-BA9BB7B2FA5B}"/>
              </a:ext>
            </a:extLst>
          </p:cNvPr>
          <p:cNvSpPr>
            <a:spLocks noGrp="1"/>
          </p:cNvSpPr>
          <p:nvPr>
            <p:ph type="title"/>
          </p:nvPr>
        </p:nvSpPr>
        <p:spPr>
          <a:xfrm>
            <a:off x="1097279" y="5104162"/>
            <a:ext cx="10113645" cy="743682"/>
          </a:xfrm>
        </p:spPr>
        <p:txBody>
          <a:bodyPr anchor="b">
            <a:normAutofit/>
          </a:bodyPr>
          <a:lstStyle/>
          <a:p>
            <a:r>
              <a:rPr lang="en-US" dirty="0"/>
              <a:t>MySQL Queries on E-Commerce platform</a:t>
            </a:r>
          </a:p>
        </p:txBody>
      </p:sp>
      <p:sp>
        <p:nvSpPr>
          <p:cNvPr id="3" name="Subtitle 2">
            <a:extLst>
              <a:ext uri="{FF2B5EF4-FFF2-40B4-BE49-F238E27FC236}">
                <a16:creationId xmlns:a16="http://schemas.microsoft.com/office/drawing/2014/main" id="{A8E9CFF2-3777-4FF4-A759-8491175B0B7C}"/>
              </a:ext>
            </a:extLst>
          </p:cNvPr>
          <p:cNvSpPr>
            <a:spLocks noGrp="1"/>
          </p:cNvSpPr>
          <p:nvPr>
            <p:ph type="body" sz="half" idx="2"/>
          </p:nvPr>
        </p:nvSpPr>
        <p:spPr>
          <a:xfrm>
            <a:off x="1097660" y="6153882"/>
            <a:ext cx="10113264" cy="609600"/>
          </a:xfrm>
        </p:spPr>
        <p:txBody>
          <a:bodyPr>
            <a:normAutofit/>
          </a:bodyPr>
          <a:lstStyle/>
          <a:p>
            <a:r>
              <a:rPr lang="en-US" b="1" dirty="0">
                <a:effectLst>
                  <a:outerShdw blurRad="38100" dist="38100" dir="2700000" algn="tl">
                    <a:srgbClr val="000000">
                      <a:alpha val="43137"/>
                    </a:srgbClr>
                  </a:outerShdw>
                </a:effectLst>
                <a:latin typeface="Bahnschrift Condensed" panose="020B0502040204020203" pitchFamily="34" charset="0"/>
              </a:rPr>
              <a:t>BY </a:t>
            </a:r>
            <a:r>
              <a:rPr lang="en-US" b="1" dirty="0" err="1">
                <a:effectLst>
                  <a:outerShdw blurRad="38100" dist="38100" dir="2700000" algn="tl">
                    <a:srgbClr val="000000">
                      <a:alpha val="43137"/>
                    </a:srgbClr>
                  </a:outerShdw>
                </a:effectLst>
                <a:latin typeface="Bahnschrift Condensed" panose="020B0502040204020203" pitchFamily="34" charset="0"/>
              </a:rPr>
              <a:t>G.Sumanth</a:t>
            </a:r>
            <a:endParaRPr lang="en-US" b="1" dirty="0">
              <a:effectLst>
                <a:outerShdw blurRad="38100" dist="38100" dir="2700000" algn="tl">
                  <a:srgbClr val="000000">
                    <a:alpha val="43137"/>
                  </a:srgbClr>
                </a:outerShdw>
              </a:effectLst>
              <a:latin typeface="Bahnschrift Condensed" panose="020B0502040204020203" pitchFamily="34" charset="0"/>
            </a:endParaRPr>
          </a:p>
        </p:txBody>
      </p:sp>
    </p:spTree>
    <p:extLst>
      <p:ext uri="{BB962C8B-B14F-4D97-AF65-F5344CB8AC3E}">
        <p14:creationId xmlns:p14="http://schemas.microsoft.com/office/powerpoint/2010/main" val="4043737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03CCC-0800-9953-4290-13BF06F6CE6D}"/>
              </a:ext>
            </a:extLst>
          </p:cNvPr>
          <p:cNvSpPr>
            <a:spLocks noGrp="1"/>
          </p:cNvSpPr>
          <p:nvPr>
            <p:ph type="title"/>
          </p:nvPr>
        </p:nvSpPr>
        <p:spPr>
          <a:xfrm>
            <a:off x="874172" y="373626"/>
            <a:ext cx="10058400" cy="1143000"/>
          </a:xfrm>
        </p:spPr>
        <p:txBody>
          <a:bodyPr>
            <a:normAutofit fontScale="90000"/>
          </a:bodyPr>
          <a:lstStyle/>
          <a:p>
            <a:pPr algn="ctr"/>
            <a:r>
              <a:rPr lang="en-US" b="1" dirty="0">
                <a:solidFill>
                  <a:schemeClr val="accent5"/>
                </a:solidFill>
                <a:latin typeface="Agency FB" panose="020B0503020202020204" pitchFamily="34" charset="0"/>
              </a:rPr>
              <a:t>Intro</a:t>
            </a:r>
            <a:r>
              <a:rPr lang="en-US" b="1" dirty="0">
                <a:latin typeface="Agency FB" panose="020B0503020202020204" pitchFamily="34" charset="0"/>
              </a:rPr>
              <a:t>duction</a:t>
            </a:r>
          </a:p>
        </p:txBody>
      </p:sp>
      <p:sp>
        <p:nvSpPr>
          <p:cNvPr id="5" name="TextBox 4">
            <a:extLst>
              <a:ext uri="{FF2B5EF4-FFF2-40B4-BE49-F238E27FC236}">
                <a16:creationId xmlns:a16="http://schemas.microsoft.com/office/drawing/2014/main" id="{1629354A-E416-B6A0-104E-447B55BDD8BE}"/>
              </a:ext>
            </a:extLst>
          </p:cNvPr>
          <p:cNvSpPr txBox="1"/>
          <p:nvPr/>
        </p:nvSpPr>
        <p:spPr>
          <a:xfrm>
            <a:off x="1135489" y="2129135"/>
            <a:ext cx="10177077" cy="1477328"/>
          </a:xfrm>
          <a:prstGeom prst="rect">
            <a:avLst/>
          </a:prstGeom>
          <a:noFill/>
        </p:spPr>
        <p:txBody>
          <a:bodyPr wrap="square" rtlCol="0">
            <a:spAutoFit/>
          </a:bodyPr>
          <a:lstStyle/>
          <a:p>
            <a:r>
              <a:rPr lang="en-IN" dirty="0">
                <a:latin typeface="+mj-lt"/>
              </a:rPr>
              <a:t>	An E-Commerce Website Project is an online platform that manages products, customer accounts, shopping carts, and orders. From a DBMS (Database Management System) perspective, this project focuses on organizing, storing, and retrieving large amounts of dynamic data efficiently. It ensures data consistency, security, and quick transaction processing between buyers and sellers.</a:t>
            </a:r>
          </a:p>
        </p:txBody>
      </p:sp>
    </p:spTree>
    <p:extLst>
      <p:ext uri="{BB962C8B-B14F-4D97-AF65-F5344CB8AC3E}">
        <p14:creationId xmlns:p14="http://schemas.microsoft.com/office/powerpoint/2010/main" val="3634871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5619AB-1948-FB8C-73DB-5A24B638D5F5}"/>
              </a:ext>
            </a:extLst>
          </p:cNvPr>
          <p:cNvSpPr txBox="1"/>
          <p:nvPr/>
        </p:nvSpPr>
        <p:spPr>
          <a:xfrm>
            <a:off x="1033433" y="751344"/>
            <a:ext cx="10825316" cy="5355312"/>
          </a:xfrm>
          <a:prstGeom prst="rect">
            <a:avLst/>
          </a:prstGeom>
          <a:noFill/>
        </p:spPr>
        <p:txBody>
          <a:bodyPr wrap="square" rtlCol="0">
            <a:spAutoFit/>
          </a:bodyPr>
          <a:lstStyle/>
          <a:p>
            <a:r>
              <a:rPr lang="en-IN" dirty="0">
                <a:latin typeface="+mj-lt"/>
              </a:rPr>
              <a:t>The following are the core problem statements for an e-commerce DBMS, categorized by key business and technical requirements:</a:t>
            </a:r>
          </a:p>
          <a:p>
            <a:endParaRPr lang="en-IN" dirty="0">
              <a:latin typeface="+mj-lt"/>
            </a:endParaRPr>
          </a:p>
          <a:p>
            <a:r>
              <a:rPr lang="en-IN" b="1" dirty="0">
                <a:latin typeface="+mj-lt"/>
              </a:rPr>
              <a:t>Core E-Commerce DBMS Problem Statements:</a:t>
            </a:r>
          </a:p>
          <a:p>
            <a:endParaRPr lang="en-IN" b="1" dirty="0">
              <a:latin typeface="+mj-lt"/>
            </a:endParaRPr>
          </a:p>
          <a:p>
            <a:r>
              <a:rPr lang="en-IN" b="1" dirty="0">
                <a:latin typeface="+mj-lt"/>
              </a:rPr>
              <a:t>Customer Data Management:</a:t>
            </a:r>
            <a:r>
              <a:rPr lang="en-IN" dirty="0">
                <a:latin typeface="+mj-lt"/>
              </a:rPr>
              <a:t> Tracking fragmented buyer information and multiple delivery addresses.</a:t>
            </a:r>
          </a:p>
          <a:p>
            <a:endParaRPr lang="en-IN" dirty="0">
              <a:latin typeface="+mj-lt"/>
            </a:endParaRPr>
          </a:p>
          <a:p>
            <a:r>
              <a:rPr lang="en-IN" b="1" dirty="0">
                <a:latin typeface="+mj-lt"/>
              </a:rPr>
              <a:t>Product </a:t>
            </a:r>
            <a:r>
              <a:rPr lang="en-IN" b="1" dirty="0" err="1">
                <a:latin typeface="+mj-lt"/>
              </a:rPr>
              <a:t>Cataloging</a:t>
            </a:r>
            <a:r>
              <a:rPr lang="en-IN" b="1" dirty="0">
                <a:latin typeface="+mj-lt"/>
              </a:rPr>
              <a:t>:</a:t>
            </a:r>
            <a:r>
              <a:rPr lang="en-IN" dirty="0">
                <a:latin typeface="+mj-lt"/>
              </a:rPr>
              <a:t> Organizing a massive inventory of varying brands, categories, and dynamic pricing.</a:t>
            </a:r>
          </a:p>
          <a:p>
            <a:endParaRPr lang="en-IN" dirty="0">
              <a:latin typeface="+mj-lt"/>
            </a:endParaRPr>
          </a:p>
          <a:p>
            <a:r>
              <a:rPr lang="en-IN" b="1" dirty="0">
                <a:latin typeface="+mj-lt"/>
              </a:rPr>
              <a:t>Inventory Tracking:</a:t>
            </a:r>
            <a:r>
              <a:rPr lang="en-IN" dirty="0">
                <a:latin typeface="+mj-lt"/>
              </a:rPr>
              <a:t> Updating stock levels automatically to prevent over-selling and out-of-stock issues.</a:t>
            </a:r>
          </a:p>
          <a:p>
            <a:endParaRPr lang="en-IN" dirty="0">
              <a:latin typeface="+mj-lt"/>
            </a:endParaRPr>
          </a:p>
          <a:p>
            <a:r>
              <a:rPr lang="en-IN" b="1" dirty="0">
                <a:latin typeface="+mj-lt"/>
              </a:rPr>
              <a:t>Shopping Cart &amp; Checkout:</a:t>
            </a:r>
            <a:r>
              <a:rPr lang="en-IN" dirty="0">
                <a:latin typeface="+mj-lt"/>
              </a:rPr>
              <a:t> Managing transient cart data securely before order finalization.</a:t>
            </a:r>
          </a:p>
          <a:p>
            <a:endParaRPr lang="en-IN" dirty="0">
              <a:latin typeface="+mj-lt"/>
            </a:endParaRPr>
          </a:p>
          <a:p>
            <a:r>
              <a:rPr lang="en-IN" b="1" dirty="0">
                <a:latin typeface="+mj-lt"/>
              </a:rPr>
              <a:t>Data Retrieval:</a:t>
            </a:r>
            <a:r>
              <a:rPr lang="en-IN" dirty="0">
                <a:latin typeface="+mj-lt"/>
              </a:rPr>
              <a:t> Enabling fast product search and filtering for a large database of items.</a:t>
            </a:r>
          </a:p>
          <a:p>
            <a:endParaRPr lang="en-IN" dirty="0">
              <a:latin typeface="+mj-lt"/>
            </a:endParaRPr>
          </a:p>
          <a:p>
            <a:r>
              <a:rPr lang="en-IN" b="1" dirty="0">
                <a:latin typeface="+mj-lt"/>
              </a:rPr>
              <a:t>Reporting &amp; Analytics:</a:t>
            </a:r>
            <a:r>
              <a:rPr lang="en-IN" dirty="0">
                <a:latin typeface="+mj-lt"/>
              </a:rPr>
              <a:t> Generating sales summaries and tracking best-selling products</a:t>
            </a:r>
          </a:p>
        </p:txBody>
      </p:sp>
      <p:sp>
        <p:nvSpPr>
          <p:cNvPr id="5" name="TextBox 4">
            <a:extLst>
              <a:ext uri="{FF2B5EF4-FFF2-40B4-BE49-F238E27FC236}">
                <a16:creationId xmlns:a16="http://schemas.microsoft.com/office/drawing/2014/main" id="{D73163E5-C866-C081-C921-BBBC0103BF47}"/>
              </a:ext>
            </a:extLst>
          </p:cNvPr>
          <p:cNvSpPr txBox="1"/>
          <p:nvPr/>
        </p:nvSpPr>
        <p:spPr>
          <a:xfrm>
            <a:off x="909484" y="166569"/>
            <a:ext cx="10373032" cy="584775"/>
          </a:xfrm>
          <a:prstGeom prst="rect">
            <a:avLst/>
          </a:prstGeom>
          <a:noFill/>
        </p:spPr>
        <p:txBody>
          <a:bodyPr wrap="square" rtlCol="0">
            <a:spAutoFit/>
          </a:bodyPr>
          <a:lstStyle/>
          <a:p>
            <a:pPr algn="ctr"/>
            <a:r>
              <a:rPr lang="en-IN" sz="3200" b="1" dirty="0">
                <a:solidFill>
                  <a:schemeClr val="accent5"/>
                </a:solidFill>
                <a:latin typeface="Agency FB" panose="020B0503020202020204" pitchFamily="34" charset="0"/>
              </a:rPr>
              <a:t>PROBLEM</a:t>
            </a:r>
            <a:r>
              <a:rPr lang="en-IN" sz="3200" b="1" dirty="0">
                <a:latin typeface="Agency FB" panose="020B0503020202020204" pitchFamily="34" charset="0"/>
              </a:rPr>
              <a:t> STATEMENTS</a:t>
            </a:r>
            <a:endParaRPr lang="en-IN" b="1" dirty="0">
              <a:latin typeface="Agency FB" panose="020B0503020202020204" pitchFamily="34" charset="0"/>
            </a:endParaRPr>
          </a:p>
        </p:txBody>
      </p:sp>
    </p:spTree>
    <p:extLst>
      <p:ext uri="{BB962C8B-B14F-4D97-AF65-F5344CB8AC3E}">
        <p14:creationId xmlns:p14="http://schemas.microsoft.com/office/powerpoint/2010/main" val="4020686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1ACD-DBD0-BDA9-5B9F-9DE00C929326}"/>
              </a:ext>
            </a:extLst>
          </p:cNvPr>
          <p:cNvSpPr>
            <a:spLocks noGrp="1"/>
          </p:cNvSpPr>
          <p:nvPr>
            <p:ph type="title"/>
          </p:nvPr>
        </p:nvSpPr>
        <p:spPr/>
        <p:txBody>
          <a:bodyPr>
            <a:normAutofit/>
          </a:bodyPr>
          <a:lstStyle/>
          <a:p>
            <a:pPr algn="ctr"/>
            <a:r>
              <a:rPr lang="en-IN" sz="3200" b="1" dirty="0">
                <a:solidFill>
                  <a:schemeClr val="accent5"/>
                </a:solidFill>
              </a:rPr>
              <a:t>MAIN</a:t>
            </a:r>
            <a:r>
              <a:rPr lang="en-IN" sz="3200" b="1" dirty="0"/>
              <a:t> ENTIES(TAB</a:t>
            </a:r>
            <a:r>
              <a:rPr lang="en-IN" sz="3200" b="1" dirty="0">
                <a:solidFill>
                  <a:schemeClr val="accent5"/>
                </a:solidFill>
              </a:rPr>
              <a:t>LES</a:t>
            </a:r>
            <a:r>
              <a:rPr lang="en-IN" sz="3200" b="1" dirty="0"/>
              <a:t>)</a:t>
            </a:r>
          </a:p>
        </p:txBody>
      </p:sp>
      <p:sp>
        <p:nvSpPr>
          <p:cNvPr id="5" name="TextBox 4">
            <a:extLst>
              <a:ext uri="{FF2B5EF4-FFF2-40B4-BE49-F238E27FC236}">
                <a16:creationId xmlns:a16="http://schemas.microsoft.com/office/drawing/2014/main" id="{7ABCFBCE-7398-7E79-2043-AF64BA759636}"/>
              </a:ext>
            </a:extLst>
          </p:cNvPr>
          <p:cNvSpPr txBox="1"/>
          <p:nvPr/>
        </p:nvSpPr>
        <p:spPr>
          <a:xfrm>
            <a:off x="1248697" y="2172929"/>
            <a:ext cx="9906983" cy="1477328"/>
          </a:xfrm>
          <a:prstGeom prst="rect">
            <a:avLst/>
          </a:prstGeom>
          <a:noFill/>
        </p:spPr>
        <p:txBody>
          <a:bodyPr wrap="square" rtlCol="0">
            <a:spAutoFit/>
          </a:bodyPr>
          <a:lstStyle/>
          <a:p>
            <a:r>
              <a:rPr lang="en-IN" dirty="0">
                <a:latin typeface="+mj-lt"/>
              </a:rPr>
              <a:t>CUSTOMERS 		</a:t>
            </a:r>
            <a:r>
              <a:rPr lang="en-IN" dirty="0" err="1">
                <a:latin typeface="+mj-lt"/>
              </a:rPr>
              <a:t>Customer_id</a:t>
            </a:r>
            <a:r>
              <a:rPr lang="en-IN" dirty="0">
                <a:latin typeface="+mj-lt"/>
              </a:rPr>
              <a:t>, </a:t>
            </a:r>
            <a:r>
              <a:rPr lang="en-IN" dirty="0" err="1">
                <a:latin typeface="+mj-lt"/>
              </a:rPr>
              <a:t>Customer_name</a:t>
            </a:r>
            <a:r>
              <a:rPr lang="en-IN" dirty="0">
                <a:latin typeface="+mj-lt"/>
              </a:rPr>
              <a:t>, City</a:t>
            </a:r>
          </a:p>
          <a:p>
            <a:r>
              <a:rPr lang="en-IN" dirty="0">
                <a:latin typeface="+mj-lt"/>
              </a:rPr>
              <a:t>PRODUCTS      		Product_id, </a:t>
            </a:r>
            <a:r>
              <a:rPr lang="en-IN" dirty="0" err="1">
                <a:latin typeface="+mj-lt"/>
              </a:rPr>
              <a:t>Product_name</a:t>
            </a:r>
            <a:r>
              <a:rPr lang="en-IN" dirty="0">
                <a:latin typeface="+mj-lt"/>
              </a:rPr>
              <a:t>, Category, Price</a:t>
            </a:r>
          </a:p>
          <a:p>
            <a:r>
              <a:rPr lang="en-IN" dirty="0">
                <a:latin typeface="+mj-lt"/>
              </a:rPr>
              <a:t>Orders 			</a:t>
            </a:r>
            <a:r>
              <a:rPr lang="en-IN" dirty="0" err="1">
                <a:latin typeface="+mj-lt"/>
              </a:rPr>
              <a:t>Order_id</a:t>
            </a:r>
            <a:r>
              <a:rPr lang="en-IN" dirty="0">
                <a:latin typeface="+mj-lt"/>
              </a:rPr>
              <a:t>, Customer_id, </a:t>
            </a:r>
            <a:r>
              <a:rPr lang="en-IN" dirty="0" err="1">
                <a:latin typeface="+mj-lt"/>
              </a:rPr>
              <a:t>Order_date</a:t>
            </a:r>
            <a:endParaRPr lang="en-IN" dirty="0">
              <a:latin typeface="+mj-lt"/>
            </a:endParaRPr>
          </a:p>
          <a:p>
            <a:r>
              <a:rPr lang="en-IN" dirty="0" err="1">
                <a:latin typeface="+mj-lt"/>
              </a:rPr>
              <a:t>Order_details</a:t>
            </a:r>
            <a:r>
              <a:rPr lang="en-IN" dirty="0">
                <a:latin typeface="+mj-lt"/>
              </a:rPr>
              <a:t> 		</a:t>
            </a:r>
            <a:r>
              <a:rPr lang="en-IN" dirty="0" err="1">
                <a:latin typeface="+mj-lt"/>
              </a:rPr>
              <a:t>Order_id</a:t>
            </a:r>
            <a:r>
              <a:rPr lang="en-IN" dirty="0">
                <a:latin typeface="+mj-lt"/>
              </a:rPr>
              <a:t>, Product_id, Quantity          </a:t>
            </a:r>
          </a:p>
          <a:p>
            <a:endParaRPr lang="en-IN" dirty="0"/>
          </a:p>
        </p:txBody>
      </p:sp>
      <p:cxnSp>
        <p:nvCxnSpPr>
          <p:cNvPr id="7" name="Straight Arrow Connector 6">
            <a:extLst>
              <a:ext uri="{FF2B5EF4-FFF2-40B4-BE49-F238E27FC236}">
                <a16:creationId xmlns:a16="http://schemas.microsoft.com/office/drawing/2014/main" id="{C0948FB5-3280-F584-6654-714190DAE222}"/>
              </a:ext>
            </a:extLst>
          </p:cNvPr>
          <p:cNvCxnSpPr/>
          <p:nvPr/>
        </p:nvCxnSpPr>
        <p:spPr>
          <a:xfrm>
            <a:off x="2947166" y="2350222"/>
            <a:ext cx="10127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995B808F-8550-0ED1-2867-5DA42966D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697" y="3940587"/>
            <a:ext cx="9678751" cy="2162477"/>
          </a:xfrm>
          <a:prstGeom prst="rect">
            <a:avLst/>
          </a:prstGeom>
        </p:spPr>
      </p:pic>
      <p:cxnSp>
        <p:nvCxnSpPr>
          <p:cNvPr id="10" name="Straight Arrow Connector 9">
            <a:extLst>
              <a:ext uri="{FF2B5EF4-FFF2-40B4-BE49-F238E27FC236}">
                <a16:creationId xmlns:a16="http://schemas.microsoft.com/office/drawing/2014/main" id="{B3A7AAE8-6762-9769-1872-26385151199F}"/>
              </a:ext>
            </a:extLst>
          </p:cNvPr>
          <p:cNvCxnSpPr/>
          <p:nvPr/>
        </p:nvCxnSpPr>
        <p:spPr>
          <a:xfrm>
            <a:off x="2932429" y="2669457"/>
            <a:ext cx="10127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E0F7D634-E716-E31B-B4D7-9B57020156B4}"/>
              </a:ext>
            </a:extLst>
          </p:cNvPr>
          <p:cNvCxnSpPr/>
          <p:nvPr/>
        </p:nvCxnSpPr>
        <p:spPr>
          <a:xfrm>
            <a:off x="2883890" y="2944762"/>
            <a:ext cx="10127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0AE14CC-3A42-4946-EEE3-40AFBAA28CD8}"/>
              </a:ext>
            </a:extLst>
          </p:cNvPr>
          <p:cNvCxnSpPr/>
          <p:nvPr/>
        </p:nvCxnSpPr>
        <p:spPr>
          <a:xfrm>
            <a:off x="2913384" y="3210441"/>
            <a:ext cx="10127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0C713859-6F36-70E2-26A1-4455FC3BE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7453" y="770910"/>
            <a:ext cx="2003750" cy="2003750"/>
          </a:xfrm>
          <a:prstGeom prst="rect">
            <a:avLst/>
          </a:prstGeom>
        </p:spPr>
      </p:pic>
      <p:pic>
        <p:nvPicPr>
          <p:cNvPr id="16" name="Picture 15">
            <a:extLst>
              <a:ext uri="{FF2B5EF4-FFF2-40B4-BE49-F238E27FC236}">
                <a16:creationId xmlns:a16="http://schemas.microsoft.com/office/drawing/2014/main" id="{F98665D7-E3DD-D12A-8B2B-554000CAEE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004" y="700546"/>
            <a:ext cx="1915330" cy="1186965"/>
          </a:xfrm>
          <a:prstGeom prst="rect">
            <a:avLst/>
          </a:prstGeom>
        </p:spPr>
      </p:pic>
    </p:spTree>
    <p:extLst>
      <p:ext uri="{BB962C8B-B14F-4D97-AF65-F5344CB8AC3E}">
        <p14:creationId xmlns:p14="http://schemas.microsoft.com/office/powerpoint/2010/main" val="3310792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15EA1-E963-9182-A6CD-A3C836639CD9}"/>
              </a:ext>
            </a:extLst>
          </p:cNvPr>
          <p:cNvSpPr>
            <a:spLocks noGrp="1"/>
          </p:cNvSpPr>
          <p:nvPr>
            <p:ph type="title"/>
          </p:nvPr>
        </p:nvSpPr>
        <p:spPr>
          <a:xfrm>
            <a:off x="1066800" y="216806"/>
            <a:ext cx="10058400" cy="1450757"/>
          </a:xfrm>
        </p:spPr>
        <p:txBody>
          <a:bodyPr>
            <a:normAutofit/>
          </a:bodyPr>
          <a:lstStyle/>
          <a:p>
            <a:pPr algn="ctr"/>
            <a:r>
              <a:rPr lang="en-IN" sz="4000" dirty="0">
                <a:solidFill>
                  <a:schemeClr val="accent5"/>
                </a:solidFill>
              </a:rPr>
              <a:t>Tables</a:t>
            </a:r>
            <a:r>
              <a:rPr lang="en-IN" sz="4000" dirty="0"/>
              <a:t> Creation</a:t>
            </a:r>
          </a:p>
        </p:txBody>
      </p:sp>
      <p:sp>
        <p:nvSpPr>
          <p:cNvPr id="4" name="TextBox 3">
            <a:extLst>
              <a:ext uri="{FF2B5EF4-FFF2-40B4-BE49-F238E27FC236}">
                <a16:creationId xmlns:a16="http://schemas.microsoft.com/office/drawing/2014/main" id="{B1C3ACE3-2335-9C2A-D089-EE251A7A277A}"/>
              </a:ext>
            </a:extLst>
          </p:cNvPr>
          <p:cNvSpPr txBox="1"/>
          <p:nvPr/>
        </p:nvSpPr>
        <p:spPr>
          <a:xfrm>
            <a:off x="1066800" y="960612"/>
            <a:ext cx="9886335" cy="4955203"/>
          </a:xfrm>
          <a:prstGeom prst="rect">
            <a:avLst/>
          </a:prstGeom>
          <a:noFill/>
        </p:spPr>
        <p:txBody>
          <a:bodyPr wrap="square" rtlCol="0">
            <a:spAutoFit/>
          </a:bodyPr>
          <a:lstStyle/>
          <a:p>
            <a:endParaRPr lang="en-US" sz="2000" b="1" dirty="0">
              <a:latin typeface="+mj-lt"/>
            </a:endParaRPr>
          </a:p>
          <a:p>
            <a:endParaRPr lang="en-US" sz="2000" b="1" dirty="0">
              <a:latin typeface="+mj-lt"/>
            </a:endParaRPr>
          </a:p>
          <a:p>
            <a:endParaRPr lang="en-US" sz="2000" b="1" dirty="0">
              <a:latin typeface="+mj-lt"/>
            </a:endParaRPr>
          </a:p>
          <a:p>
            <a:r>
              <a:rPr lang="en-US" sz="2000" b="1" dirty="0">
                <a:latin typeface="+mj-lt"/>
              </a:rPr>
              <a:t>Customers			</a:t>
            </a:r>
          </a:p>
          <a:p>
            <a:r>
              <a:rPr lang="en-US" dirty="0">
                <a:latin typeface="+mj-lt"/>
              </a:rPr>
              <a:t>CREATE TABLE Customers (</a:t>
            </a:r>
          </a:p>
          <a:p>
            <a:r>
              <a:rPr lang="en-US" dirty="0">
                <a:latin typeface="+mj-lt"/>
              </a:rPr>
              <a:t>    </a:t>
            </a:r>
            <a:r>
              <a:rPr lang="en-US" dirty="0" err="1">
                <a:latin typeface="+mj-lt"/>
              </a:rPr>
              <a:t>customer_id</a:t>
            </a:r>
            <a:r>
              <a:rPr lang="en-US" dirty="0">
                <a:latin typeface="+mj-lt"/>
              </a:rPr>
              <a:t> INT PRIMARY KEY,</a:t>
            </a:r>
          </a:p>
          <a:p>
            <a:r>
              <a:rPr lang="en-US" dirty="0">
                <a:latin typeface="+mj-lt"/>
              </a:rPr>
              <a:t>    </a:t>
            </a:r>
            <a:r>
              <a:rPr lang="en-US" dirty="0" err="1">
                <a:latin typeface="+mj-lt"/>
              </a:rPr>
              <a:t>customer_name</a:t>
            </a:r>
            <a:r>
              <a:rPr lang="en-US" dirty="0">
                <a:latin typeface="+mj-lt"/>
              </a:rPr>
              <a:t> VARCHAR(50),</a:t>
            </a:r>
          </a:p>
          <a:p>
            <a:r>
              <a:rPr lang="en-US" dirty="0">
                <a:latin typeface="+mj-lt"/>
              </a:rPr>
              <a:t>    city VARCHAR(50)</a:t>
            </a:r>
          </a:p>
          <a:p>
            <a:r>
              <a:rPr lang="en-US" dirty="0">
                <a:latin typeface="+mj-lt"/>
              </a:rPr>
              <a:t>);</a:t>
            </a:r>
          </a:p>
          <a:p>
            <a:endParaRPr lang="en-US" dirty="0">
              <a:latin typeface="+mj-lt"/>
            </a:endParaRPr>
          </a:p>
          <a:p>
            <a:r>
              <a:rPr lang="en-US" sz="2000" b="1" dirty="0">
                <a:latin typeface="+mj-lt"/>
              </a:rPr>
              <a:t>PRODUCTS</a:t>
            </a:r>
          </a:p>
          <a:p>
            <a:r>
              <a:rPr lang="en-US" dirty="0">
                <a:latin typeface="+mj-lt"/>
              </a:rPr>
              <a:t>CREATE TABLE Products (</a:t>
            </a:r>
          </a:p>
          <a:p>
            <a:r>
              <a:rPr lang="en-US" dirty="0">
                <a:latin typeface="+mj-lt"/>
              </a:rPr>
              <a:t>    </a:t>
            </a:r>
            <a:r>
              <a:rPr lang="en-US" dirty="0" err="1">
                <a:latin typeface="+mj-lt"/>
              </a:rPr>
              <a:t>product_id</a:t>
            </a:r>
            <a:r>
              <a:rPr lang="en-US" dirty="0">
                <a:latin typeface="+mj-lt"/>
              </a:rPr>
              <a:t> INT PRIMARY KEY,</a:t>
            </a:r>
          </a:p>
          <a:p>
            <a:r>
              <a:rPr lang="en-US" dirty="0">
                <a:latin typeface="+mj-lt"/>
              </a:rPr>
              <a:t>    </a:t>
            </a:r>
            <a:r>
              <a:rPr lang="en-US" dirty="0" err="1">
                <a:latin typeface="+mj-lt"/>
              </a:rPr>
              <a:t>product_name</a:t>
            </a:r>
            <a:r>
              <a:rPr lang="en-US" dirty="0">
                <a:latin typeface="+mj-lt"/>
              </a:rPr>
              <a:t> VARCHAR(50),</a:t>
            </a:r>
          </a:p>
          <a:p>
            <a:r>
              <a:rPr lang="en-US" dirty="0">
                <a:latin typeface="+mj-lt"/>
              </a:rPr>
              <a:t>    category VARCHAR(50),</a:t>
            </a:r>
          </a:p>
          <a:p>
            <a:r>
              <a:rPr lang="en-US" dirty="0">
                <a:latin typeface="+mj-lt"/>
              </a:rPr>
              <a:t>    price DECIMAL(10,2)</a:t>
            </a:r>
          </a:p>
          <a:p>
            <a:r>
              <a:rPr lang="en-US" dirty="0">
                <a:latin typeface="+mj-lt"/>
              </a:rPr>
              <a:t>);</a:t>
            </a:r>
            <a:endParaRPr lang="en-IN" dirty="0">
              <a:latin typeface="+mj-lt"/>
            </a:endParaRPr>
          </a:p>
        </p:txBody>
      </p:sp>
      <p:sp>
        <p:nvSpPr>
          <p:cNvPr id="5" name="TextBox 4">
            <a:extLst>
              <a:ext uri="{FF2B5EF4-FFF2-40B4-BE49-F238E27FC236}">
                <a16:creationId xmlns:a16="http://schemas.microsoft.com/office/drawing/2014/main" id="{71333A12-6479-6CC9-7E9E-C228967D3B86}"/>
              </a:ext>
            </a:extLst>
          </p:cNvPr>
          <p:cNvSpPr txBox="1"/>
          <p:nvPr/>
        </p:nvSpPr>
        <p:spPr>
          <a:xfrm>
            <a:off x="5137356" y="960612"/>
            <a:ext cx="7054644" cy="5478423"/>
          </a:xfrm>
          <a:prstGeom prst="rect">
            <a:avLst/>
          </a:prstGeom>
          <a:noFill/>
        </p:spPr>
        <p:txBody>
          <a:bodyPr wrap="square" rtlCol="0">
            <a:spAutoFit/>
          </a:bodyPr>
          <a:lstStyle/>
          <a:p>
            <a:r>
              <a:rPr lang="en-US" sz="2000" b="1" dirty="0">
                <a:latin typeface="+mj-lt"/>
              </a:rPr>
              <a:t>	</a:t>
            </a:r>
          </a:p>
          <a:p>
            <a:endParaRPr lang="en-US" sz="2000" b="1" dirty="0">
              <a:latin typeface="+mj-lt"/>
            </a:endParaRPr>
          </a:p>
          <a:p>
            <a:endParaRPr lang="en-US" sz="2000" b="1" dirty="0">
              <a:latin typeface="+mj-lt"/>
            </a:endParaRPr>
          </a:p>
          <a:p>
            <a:r>
              <a:rPr lang="en-US" sz="2000" b="1" dirty="0">
                <a:latin typeface="+mj-lt"/>
              </a:rPr>
              <a:t>	Orders</a:t>
            </a:r>
            <a:endParaRPr lang="en-US" b="1" dirty="0">
              <a:latin typeface="+mj-lt"/>
            </a:endParaRPr>
          </a:p>
          <a:p>
            <a:r>
              <a:rPr lang="en-US" dirty="0">
                <a:latin typeface="+mj-lt"/>
              </a:rPr>
              <a:t>	CREATE TABLE Orders (</a:t>
            </a:r>
          </a:p>
          <a:p>
            <a:r>
              <a:rPr lang="en-US" dirty="0">
                <a:latin typeface="+mj-lt"/>
              </a:rPr>
              <a:t>    	</a:t>
            </a:r>
            <a:r>
              <a:rPr lang="en-US" dirty="0" err="1">
                <a:latin typeface="+mj-lt"/>
              </a:rPr>
              <a:t>order_id</a:t>
            </a:r>
            <a:r>
              <a:rPr lang="en-US" dirty="0">
                <a:latin typeface="+mj-lt"/>
              </a:rPr>
              <a:t> INT PRIMARY KEY,</a:t>
            </a:r>
          </a:p>
          <a:p>
            <a:r>
              <a:rPr lang="en-US" dirty="0">
                <a:latin typeface="+mj-lt"/>
              </a:rPr>
              <a:t>    	</a:t>
            </a:r>
            <a:r>
              <a:rPr lang="en-US" dirty="0" err="1">
                <a:latin typeface="+mj-lt"/>
              </a:rPr>
              <a:t>customer_id</a:t>
            </a:r>
            <a:r>
              <a:rPr lang="en-US" dirty="0">
                <a:latin typeface="+mj-lt"/>
              </a:rPr>
              <a:t> </a:t>
            </a:r>
            <a:r>
              <a:rPr lang="en-US" dirty="0" err="1">
                <a:latin typeface="+mj-lt"/>
              </a:rPr>
              <a:t>INT,order_date</a:t>
            </a:r>
            <a:r>
              <a:rPr lang="en-US" dirty="0">
                <a:latin typeface="+mj-lt"/>
              </a:rPr>
              <a:t> DATE,</a:t>
            </a:r>
          </a:p>
          <a:p>
            <a:r>
              <a:rPr lang="en-US" dirty="0">
                <a:latin typeface="+mj-lt"/>
              </a:rPr>
              <a:t>    	FOREIGN KEY (</a:t>
            </a:r>
            <a:r>
              <a:rPr lang="en-US" dirty="0" err="1">
                <a:latin typeface="+mj-lt"/>
              </a:rPr>
              <a:t>customer_id</a:t>
            </a:r>
            <a:r>
              <a:rPr lang="en-US" dirty="0">
                <a:latin typeface="+mj-lt"/>
              </a:rPr>
              <a:t>)</a:t>
            </a:r>
          </a:p>
          <a:p>
            <a:r>
              <a:rPr lang="en-US" dirty="0">
                <a:latin typeface="+mj-lt"/>
              </a:rPr>
              <a:t>    	REFERENCES Customers(</a:t>
            </a:r>
            <a:r>
              <a:rPr lang="en-US" dirty="0" err="1">
                <a:latin typeface="+mj-lt"/>
              </a:rPr>
              <a:t>customer_id</a:t>
            </a:r>
            <a:r>
              <a:rPr lang="en-US" dirty="0">
                <a:latin typeface="+mj-lt"/>
              </a:rPr>
              <a:t>)</a:t>
            </a:r>
          </a:p>
          <a:p>
            <a:r>
              <a:rPr lang="en-US" dirty="0">
                <a:latin typeface="+mj-lt"/>
              </a:rPr>
              <a:t>	);</a:t>
            </a:r>
          </a:p>
          <a:p>
            <a:endParaRPr lang="en-US" dirty="0">
              <a:latin typeface="+mj-lt"/>
            </a:endParaRPr>
          </a:p>
          <a:p>
            <a:r>
              <a:rPr lang="en-US" b="1" dirty="0">
                <a:latin typeface="+mj-lt"/>
              </a:rPr>
              <a:t>	</a:t>
            </a:r>
            <a:r>
              <a:rPr lang="en-US" b="1" dirty="0" err="1">
                <a:latin typeface="+mj-lt"/>
              </a:rPr>
              <a:t>Order_Details</a:t>
            </a:r>
            <a:endParaRPr lang="en-US" b="1" dirty="0">
              <a:latin typeface="+mj-lt"/>
            </a:endParaRPr>
          </a:p>
          <a:p>
            <a:r>
              <a:rPr lang="en-US" dirty="0">
                <a:latin typeface="+mj-lt"/>
              </a:rPr>
              <a:t>	CREATE TABLE </a:t>
            </a:r>
            <a:r>
              <a:rPr lang="en-US" dirty="0" err="1">
                <a:latin typeface="+mj-lt"/>
              </a:rPr>
              <a:t>Order_Details</a:t>
            </a:r>
            <a:r>
              <a:rPr lang="en-US" dirty="0">
                <a:latin typeface="+mj-lt"/>
              </a:rPr>
              <a:t> (</a:t>
            </a:r>
          </a:p>
          <a:p>
            <a:r>
              <a:rPr lang="en-US" dirty="0">
                <a:latin typeface="+mj-lt"/>
              </a:rPr>
              <a:t>    	</a:t>
            </a:r>
            <a:r>
              <a:rPr lang="en-US" dirty="0" err="1">
                <a:latin typeface="+mj-lt"/>
              </a:rPr>
              <a:t>order_id</a:t>
            </a:r>
            <a:r>
              <a:rPr lang="en-US" dirty="0">
                <a:latin typeface="+mj-lt"/>
              </a:rPr>
              <a:t> </a:t>
            </a:r>
            <a:r>
              <a:rPr lang="en-US" dirty="0" err="1">
                <a:latin typeface="+mj-lt"/>
              </a:rPr>
              <a:t>INT,product_id</a:t>
            </a:r>
            <a:r>
              <a:rPr lang="en-US" dirty="0">
                <a:latin typeface="+mj-lt"/>
              </a:rPr>
              <a:t> INT,</a:t>
            </a:r>
          </a:p>
          <a:p>
            <a:r>
              <a:rPr lang="en-US" dirty="0">
                <a:latin typeface="+mj-lt"/>
              </a:rPr>
              <a:t>    	quantity INT,PRIMARY KEY(</a:t>
            </a:r>
            <a:r>
              <a:rPr lang="en-US" dirty="0" err="1">
                <a:latin typeface="+mj-lt"/>
              </a:rPr>
              <a:t>order_id</a:t>
            </a:r>
            <a:r>
              <a:rPr lang="en-US" dirty="0">
                <a:latin typeface="+mj-lt"/>
              </a:rPr>
              <a:t>, </a:t>
            </a:r>
            <a:r>
              <a:rPr lang="en-US" dirty="0" err="1">
                <a:latin typeface="+mj-lt"/>
              </a:rPr>
              <a:t>product_id</a:t>
            </a:r>
            <a:r>
              <a:rPr lang="en-US" dirty="0">
                <a:latin typeface="+mj-lt"/>
              </a:rPr>
              <a:t>),</a:t>
            </a:r>
          </a:p>
          <a:p>
            <a:r>
              <a:rPr lang="en-US" dirty="0">
                <a:latin typeface="+mj-lt"/>
              </a:rPr>
              <a:t>    	FOREIGN KEY(</a:t>
            </a:r>
            <a:r>
              <a:rPr lang="en-US" dirty="0" err="1">
                <a:latin typeface="+mj-lt"/>
              </a:rPr>
              <a:t>order_id</a:t>
            </a:r>
            <a:r>
              <a:rPr lang="en-US" dirty="0">
                <a:latin typeface="+mj-lt"/>
              </a:rPr>
              <a:t>) REFERENCES 	Orders(</a:t>
            </a:r>
            <a:r>
              <a:rPr lang="en-US" dirty="0" err="1">
                <a:latin typeface="+mj-lt"/>
              </a:rPr>
              <a:t>order_id</a:t>
            </a:r>
            <a:r>
              <a:rPr lang="en-US" dirty="0">
                <a:latin typeface="+mj-lt"/>
              </a:rPr>
              <a:t>),</a:t>
            </a:r>
          </a:p>
          <a:p>
            <a:r>
              <a:rPr lang="en-US" dirty="0">
                <a:latin typeface="+mj-lt"/>
              </a:rPr>
              <a:t>    	FOREIGN KEY(</a:t>
            </a:r>
            <a:r>
              <a:rPr lang="en-US" dirty="0" err="1">
                <a:latin typeface="+mj-lt"/>
              </a:rPr>
              <a:t>product_id</a:t>
            </a:r>
            <a:r>
              <a:rPr lang="en-US" dirty="0">
                <a:latin typeface="+mj-lt"/>
              </a:rPr>
              <a:t>) REFERENCES 	Products(</a:t>
            </a:r>
            <a:r>
              <a:rPr lang="en-US" dirty="0" err="1">
                <a:latin typeface="+mj-lt"/>
              </a:rPr>
              <a:t>product_id</a:t>
            </a:r>
            <a:r>
              <a:rPr lang="en-US" dirty="0">
                <a:latin typeface="+mj-lt"/>
              </a:rPr>
              <a:t>));</a:t>
            </a:r>
            <a:endParaRPr lang="en-IN" dirty="0">
              <a:latin typeface="+mj-lt"/>
            </a:endParaRPr>
          </a:p>
        </p:txBody>
      </p:sp>
    </p:spTree>
    <p:extLst>
      <p:ext uri="{BB962C8B-B14F-4D97-AF65-F5344CB8AC3E}">
        <p14:creationId xmlns:p14="http://schemas.microsoft.com/office/powerpoint/2010/main" val="2299809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6AAE58B-DDF6-7E5F-5728-CE552B70279D}"/>
              </a:ext>
            </a:extLst>
          </p:cNvPr>
          <p:cNvSpPr>
            <a:spLocks noGrp="1"/>
          </p:cNvSpPr>
          <p:nvPr>
            <p:ph type="title"/>
          </p:nvPr>
        </p:nvSpPr>
        <p:spPr>
          <a:xfrm>
            <a:off x="1066800" y="-519642"/>
            <a:ext cx="10058400" cy="1450757"/>
          </a:xfrm>
        </p:spPr>
        <p:txBody>
          <a:bodyPr/>
          <a:lstStyle/>
          <a:p>
            <a:pPr algn="ctr"/>
            <a:r>
              <a:rPr lang="en-IN" dirty="0">
                <a:solidFill>
                  <a:schemeClr val="accent5"/>
                </a:solidFill>
              </a:rPr>
              <a:t>Scen</a:t>
            </a:r>
            <a:r>
              <a:rPr lang="en-IN" dirty="0"/>
              <a:t>arios</a:t>
            </a:r>
          </a:p>
        </p:txBody>
      </p:sp>
      <p:sp>
        <p:nvSpPr>
          <p:cNvPr id="7" name="TextBox 6">
            <a:extLst>
              <a:ext uri="{FF2B5EF4-FFF2-40B4-BE49-F238E27FC236}">
                <a16:creationId xmlns:a16="http://schemas.microsoft.com/office/drawing/2014/main" id="{A8F7C750-BFE7-0F96-0B04-59F9E372A1EE}"/>
              </a:ext>
            </a:extLst>
          </p:cNvPr>
          <p:cNvSpPr txBox="1"/>
          <p:nvPr/>
        </p:nvSpPr>
        <p:spPr>
          <a:xfrm>
            <a:off x="1238865" y="1288026"/>
            <a:ext cx="9891251" cy="461665"/>
          </a:xfrm>
          <a:prstGeom prst="rect">
            <a:avLst/>
          </a:prstGeom>
          <a:noFill/>
        </p:spPr>
        <p:txBody>
          <a:bodyPr wrap="square" rtlCol="0">
            <a:spAutoFit/>
          </a:bodyPr>
          <a:lstStyle/>
          <a:p>
            <a:r>
              <a:rPr lang="en-IN" sz="2400" dirty="0">
                <a:latin typeface="+mj-lt"/>
              </a:rPr>
              <a:t>Query for listing all the Customers &amp; Products </a:t>
            </a:r>
          </a:p>
        </p:txBody>
      </p:sp>
      <p:sp>
        <p:nvSpPr>
          <p:cNvPr id="9" name="TextBox 8">
            <a:extLst>
              <a:ext uri="{FF2B5EF4-FFF2-40B4-BE49-F238E27FC236}">
                <a16:creationId xmlns:a16="http://schemas.microsoft.com/office/drawing/2014/main" id="{41C34D7C-4520-0DD7-1B13-A429256FB186}"/>
              </a:ext>
            </a:extLst>
          </p:cNvPr>
          <p:cNvSpPr txBox="1"/>
          <p:nvPr/>
        </p:nvSpPr>
        <p:spPr>
          <a:xfrm>
            <a:off x="1514167" y="2593569"/>
            <a:ext cx="3097161" cy="369332"/>
          </a:xfrm>
          <a:prstGeom prst="rect">
            <a:avLst/>
          </a:prstGeom>
          <a:noFill/>
        </p:spPr>
        <p:txBody>
          <a:bodyPr wrap="square" rtlCol="0">
            <a:spAutoFit/>
          </a:bodyPr>
          <a:lstStyle/>
          <a:p>
            <a:r>
              <a:rPr lang="en-IN" dirty="0"/>
              <a:t>SELECT * FROM Customers;</a:t>
            </a:r>
          </a:p>
        </p:txBody>
      </p:sp>
      <p:pic>
        <p:nvPicPr>
          <p:cNvPr id="11" name="Picture 10">
            <a:extLst>
              <a:ext uri="{FF2B5EF4-FFF2-40B4-BE49-F238E27FC236}">
                <a16:creationId xmlns:a16="http://schemas.microsoft.com/office/drawing/2014/main" id="{3AC85AEC-9626-52C8-ADC7-9AA9A93B1A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930" y="2073287"/>
            <a:ext cx="4125385" cy="1761294"/>
          </a:xfrm>
          <a:prstGeom prst="rect">
            <a:avLst/>
          </a:prstGeom>
        </p:spPr>
      </p:pic>
      <p:sp>
        <p:nvSpPr>
          <p:cNvPr id="12" name="TextBox 11">
            <a:extLst>
              <a:ext uri="{FF2B5EF4-FFF2-40B4-BE49-F238E27FC236}">
                <a16:creationId xmlns:a16="http://schemas.microsoft.com/office/drawing/2014/main" id="{2DE481A3-5912-65F1-6F1D-63A6E8FE065C}"/>
              </a:ext>
            </a:extLst>
          </p:cNvPr>
          <p:cNvSpPr txBox="1"/>
          <p:nvPr/>
        </p:nvSpPr>
        <p:spPr>
          <a:xfrm>
            <a:off x="1622323" y="4404852"/>
            <a:ext cx="3097161" cy="369332"/>
          </a:xfrm>
          <a:prstGeom prst="rect">
            <a:avLst/>
          </a:prstGeom>
          <a:noFill/>
        </p:spPr>
        <p:txBody>
          <a:bodyPr wrap="square" rtlCol="0">
            <a:spAutoFit/>
          </a:bodyPr>
          <a:lstStyle/>
          <a:p>
            <a:r>
              <a:rPr lang="en-IN" dirty="0"/>
              <a:t>SELECT * FROM Products;</a:t>
            </a:r>
          </a:p>
        </p:txBody>
      </p:sp>
      <p:pic>
        <p:nvPicPr>
          <p:cNvPr id="14" name="Picture 13">
            <a:extLst>
              <a:ext uri="{FF2B5EF4-FFF2-40B4-BE49-F238E27FC236}">
                <a16:creationId xmlns:a16="http://schemas.microsoft.com/office/drawing/2014/main" id="{B34D31EC-05D3-870E-FF61-167064FAF0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6679" y="4017146"/>
            <a:ext cx="4125385" cy="1970699"/>
          </a:xfrm>
          <a:prstGeom prst="rect">
            <a:avLst/>
          </a:prstGeom>
        </p:spPr>
      </p:pic>
    </p:spTree>
    <p:extLst>
      <p:ext uri="{BB962C8B-B14F-4D97-AF65-F5344CB8AC3E}">
        <p14:creationId xmlns:p14="http://schemas.microsoft.com/office/powerpoint/2010/main" val="3593907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FDAD-B7AC-B057-FD16-993C51783406}"/>
              </a:ext>
            </a:extLst>
          </p:cNvPr>
          <p:cNvSpPr>
            <a:spLocks noGrp="1"/>
          </p:cNvSpPr>
          <p:nvPr>
            <p:ph type="title"/>
          </p:nvPr>
        </p:nvSpPr>
        <p:spPr>
          <a:xfrm>
            <a:off x="1126777" y="1053519"/>
            <a:ext cx="7643597" cy="480313"/>
          </a:xfrm>
        </p:spPr>
        <p:txBody>
          <a:bodyPr>
            <a:noAutofit/>
          </a:bodyPr>
          <a:lstStyle/>
          <a:p>
            <a:r>
              <a:rPr lang="en-IN" sz="2800" dirty="0"/>
              <a:t>Query to list all Orders and their details?</a:t>
            </a:r>
          </a:p>
        </p:txBody>
      </p:sp>
      <p:sp>
        <p:nvSpPr>
          <p:cNvPr id="3" name="TextBox 2">
            <a:extLst>
              <a:ext uri="{FF2B5EF4-FFF2-40B4-BE49-F238E27FC236}">
                <a16:creationId xmlns:a16="http://schemas.microsoft.com/office/drawing/2014/main" id="{B907B91D-0874-CAA1-691B-927D20D49183}"/>
              </a:ext>
            </a:extLst>
          </p:cNvPr>
          <p:cNvSpPr txBox="1"/>
          <p:nvPr/>
        </p:nvSpPr>
        <p:spPr>
          <a:xfrm>
            <a:off x="1126777" y="2782857"/>
            <a:ext cx="5657481" cy="369332"/>
          </a:xfrm>
          <a:prstGeom prst="rect">
            <a:avLst/>
          </a:prstGeom>
          <a:noFill/>
        </p:spPr>
        <p:txBody>
          <a:bodyPr wrap="square" rtlCol="0">
            <a:spAutoFit/>
          </a:bodyPr>
          <a:lstStyle/>
          <a:p>
            <a:r>
              <a:rPr lang="en-IN" dirty="0"/>
              <a:t>SELECT * FROM Orders;</a:t>
            </a:r>
          </a:p>
        </p:txBody>
      </p:sp>
      <p:sp>
        <p:nvSpPr>
          <p:cNvPr id="4" name="TextBox 3">
            <a:extLst>
              <a:ext uri="{FF2B5EF4-FFF2-40B4-BE49-F238E27FC236}">
                <a16:creationId xmlns:a16="http://schemas.microsoft.com/office/drawing/2014/main" id="{FEB74732-5D1B-00E5-C5D8-C71468391A32}"/>
              </a:ext>
            </a:extLst>
          </p:cNvPr>
          <p:cNvSpPr txBox="1"/>
          <p:nvPr/>
        </p:nvSpPr>
        <p:spPr>
          <a:xfrm>
            <a:off x="1126777" y="4890702"/>
            <a:ext cx="3352800" cy="646331"/>
          </a:xfrm>
          <a:prstGeom prst="rect">
            <a:avLst/>
          </a:prstGeom>
          <a:noFill/>
        </p:spPr>
        <p:txBody>
          <a:bodyPr wrap="square" rtlCol="0">
            <a:spAutoFit/>
          </a:bodyPr>
          <a:lstStyle/>
          <a:p>
            <a:r>
              <a:rPr lang="en-IN" dirty="0"/>
              <a:t>SELECT * FROM </a:t>
            </a:r>
            <a:r>
              <a:rPr lang="en-IN" dirty="0" err="1"/>
              <a:t>Orders_Details</a:t>
            </a:r>
            <a:r>
              <a:rPr lang="en-IN" dirty="0"/>
              <a:t>;</a:t>
            </a:r>
          </a:p>
          <a:p>
            <a:endParaRPr lang="en-IN" dirty="0"/>
          </a:p>
        </p:txBody>
      </p:sp>
      <p:pic>
        <p:nvPicPr>
          <p:cNvPr id="6" name="Picture 5">
            <a:extLst>
              <a:ext uri="{FF2B5EF4-FFF2-40B4-BE49-F238E27FC236}">
                <a16:creationId xmlns:a16="http://schemas.microsoft.com/office/drawing/2014/main" id="{72F67EDA-1002-6B46-11C5-A748A26BB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2077" y="2120130"/>
            <a:ext cx="3559613" cy="1694786"/>
          </a:xfrm>
          <a:prstGeom prst="rect">
            <a:avLst/>
          </a:prstGeom>
        </p:spPr>
      </p:pic>
      <p:pic>
        <p:nvPicPr>
          <p:cNvPr id="10" name="Picture 9">
            <a:extLst>
              <a:ext uri="{FF2B5EF4-FFF2-40B4-BE49-F238E27FC236}">
                <a16:creationId xmlns:a16="http://schemas.microsoft.com/office/drawing/2014/main" id="{056F9A38-A2DA-669A-3AE2-8FAEBEA162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8872" y="4144925"/>
            <a:ext cx="3700638" cy="2137887"/>
          </a:xfrm>
          <a:prstGeom prst="rect">
            <a:avLst/>
          </a:prstGeom>
        </p:spPr>
      </p:pic>
    </p:spTree>
    <p:extLst>
      <p:ext uri="{BB962C8B-B14F-4D97-AF65-F5344CB8AC3E}">
        <p14:creationId xmlns:p14="http://schemas.microsoft.com/office/powerpoint/2010/main" val="312729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7569F-04DF-F29B-CF5B-AC67AABE2AFB}"/>
              </a:ext>
            </a:extLst>
          </p:cNvPr>
          <p:cNvSpPr>
            <a:spLocks noGrp="1"/>
          </p:cNvSpPr>
          <p:nvPr>
            <p:ph type="title"/>
          </p:nvPr>
        </p:nvSpPr>
        <p:spPr>
          <a:xfrm>
            <a:off x="1066800" y="-656980"/>
            <a:ext cx="10058400" cy="1450757"/>
          </a:xfrm>
        </p:spPr>
        <p:txBody>
          <a:bodyPr>
            <a:normAutofit/>
          </a:bodyPr>
          <a:lstStyle/>
          <a:p>
            <a:pPr algn="ctr"/>
            <a:r>
              <a:rPr lang="en-US" sz="3600" dirty="0">
                <a:solidFill>
                  <a:schemeClr val="accent5"/>
                </a:solidFill>
              </a:rPr>
              <a:t>Que</a:t>
            </a:r>
            <a:r>
              <a:rPr lang="en-US" sz="3600" dirty="0"/>
              <a:t>ries(</a:t>
            </a:r>
            <a:r>
              <a:rPr lang="en-US" sz="3600" dirty="0">
                <a:solidFill>
                  <a:schemeClr val="accent5"/>
                </a:solidFill>
              </a:rPr>
              <a:t>Basic</a:t>
            </a:r>
            <a:r>
              <a:rPr lang="en-US" sz="3600" dirty="0"/>
              <a:t> SELECT)</a:t>
            </a:r>
            <a:endParaRPr lang="en-IN" sz="3600" dirty="0"/>
          </a:p>
        </p:txBody>
      </p:sp>
      <p:sp>
        <p:nvSpPr>
          <p:cNvPr id="3" name="TextBox 2">
            <a:extLst>
              <a:ext uri="{FF2B5EF4-FFF2-40B4-BE49-F238E27FC236}">
                <a16:creationId xmlns:a16="http://schemas.microsoft.com/office/drawing/2014/main" id="{53EE833B-F091-D03B-DEDF-9434D8A907B9}"/>
              </a:ext>
            </a:extLst>
          </p:cNvPr>
          <p:cNvSpPr txBox="1"/>
          <p:nvPr/>
        </p:nvSpPr>
        <p:spPr>
          <a:xfrm>
            <a:off x="1215957" y="1391056"/>
            <a:ext cx="6352162" cy="369332"/>
          </a:xfrm>
          <a:prstGeom prst="rect">
            <a:avLst/>
          </a:prstGeom>
          <a:noFill/>
        </p:spPr>
        <p:txBody>
          <a:bodyPr wrap="square" rtlCol="0">
            <a:spAutoFit/>
          </a:bodyPr>
          <a:lstStyle/>
          <a:p>
            <a:r>
              <a:rPr lang="en-US" dirty="0">
                <a:latin typeface="+mj-lt"/>
              </a:rPr>
              <a:t>1.Display all products with price greater than 10000.</a:t>
            </a:r>
            <a:endParaRPr lang="en-IN" dirty="0">
              <a:latin typeface="+mj-lt"/>
            </a:endParaRPr>
          </a:p>
        </p:txBody>
      </p:sp>
      <p:sp>
        <p:nvSpPr>
          <p:cNvPr id="4" name="TextBox 3">
            <a:extLst>
              <a:ext uri="{FF2B5EF4-FFF2-40B4-BE49-F238E27FC236}">
                <a16:creationId xmlns:a16="http://schemas.microsoft.com/office/drawing/2014/main" id="{E49C6BF0-CE82-B613-C41E-6412E3C96ADB}"/>
              </a:ext>
            </a:extLst>
          </p:cNvPr>
          <p:cNvSpPr txBox="1"/>
          <p:nvPr/>
        </p:nvSpPr>
        <p:spPr>
          <a:xfrm>
            <a:off x="1186774" y="3229583"/>
            <a:ext cx="7227652" cy="369332"/>
          </a:xfrm>
          <a:prstGeom prst="rect">
            <a:avLst/>
          </a:prstGeom>
          <a:noFill/>
        </p:spPr>
        <p:txBody>
          <a:bodyPr wrap="square" rtlCol="0">
            <a:spAutoFit/>
          </a:bodyPr>
          <a:lstStyle/>
          <a:p>
            <a:r>
              <a:rPr lang="en-US" dirty="0"/>
              <a:t> SELECT </a:t>
            </a:r>
            <a:r>
              <a:rPr lang="en-US" dirty="0" err="1"/>
              <a:t>product_name</a:t>
            </a:r>
            <a:r>
              <a:rPr lang="en-US" dirty="0"/>
              <a:t>, price FROM products WHERE price&gt;10000;</a:t>
            </a:r>
            <a:endParaRPr lang="en-IN" dirty="0"/>
          </a:p>
        </p:txBody>
      </p:sp>
      <p:pic>
        <p:nvPicPr>
          <p:cNvPr id="6" name="Picture 5">
            <a:extLst>
              <a:ext uri="{FF2B5EF4-FFF2-40B4-BE49-F238E27FC236}">
                <a16:creationId xmlns:a16="http://schemas.microsoft.com/office/drawing/2014/main" id="{2AFAE884-9D9D-301C-9EF0-A3920A474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8793" y="2924104"/>
            <a:ext cx="3076407" cy="1881360"/>
          </a:xfrm>
          <a:prstGeom prst="rect">
            <a:avLst/>
          </a:prstGeom>
        </p:spPr>
      </p:pic>
    </p:spTree>
    <p:extLst>
      <p:ext uri="{BB962C8B-B14F-4D97-AF65-F5344CB8AC3E}">
        <p14:creationId xmlns:p14="http://schemas.microsoft.com/office/powerpoint/2010/main" val="739281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45BD1-4BD7-092D-A070-3956AEDE5CA4}"/>
              </a:ext>
            </a:extLst>
          </p:cNvPr>
          <p:cNvSpPr>
            <a:spLocks noGrp="1"/>
          </p:cNvSpPr>
          <p:nvPr>
            <p:ph type="title"/>
          </p:nvPr>
        </p:nvSpPr>
        <p:spPr>
          <a:xfrm>
            <a:off x="1097280" y="1245140"/>
            <a:ext cx="6996133" cy="492220"/>
          </a:xfrm>
        </p:spPr>
        <p:txBody>
          <a:bodyPr>
            <a:noAutofit/>
          </a:bodyPr>
          <a:lstStyle/>
          <a:p>
            <a:r>
              <a:rPr lang="en-US" sz="2400" dirty="0"/>
              <a:t>2.List all orders placed in February 2025.</a:t>
            </a:r>
          </a:p>
        </p:txBody>
      </p:sp>
      <p:sp>
        <p:nvSpPr>
          <p:cNvPr id="3" name="TextBox 2">
            <a:extLst>
              <a:ext uri="{FF2B5EF4-FFF2-40B4-BE49-F238E27FC236}">
                <a16:creationId xmlns:a16="http://schemas.microsoft.com/office/drawing/2014/main" id="{1B7207B3-946A-DB09-F642-4B809617EEE9}"/>
              </a:ext>
            </a:extLst>
          </p:cNvPr>
          <p:cNvSpPr txBox="1"/>
          <p:nvPr/>
        </p:nvSpPr>
        <p:spPr>
          <a:xfrm>
            <a:off x="1352145" y="2490281"/>
            <a:ext cx="8550612" cy="369332"/>
          </a:xfrm>
          <a:prstGeom prst="rect">
            <a:avLst/>
          </a:prstGeom>
          <a:noFill/>
        </p:spPr>
        <p:txBody>
          <a:bodyPr wrap="square" rtlCol="0">
            <a:spAutoFit/>
          </a:bodyPr>
          <a:lstStyle/>
          <a:p>
            <a:r>
              <a:rPr lang="en-US" dirty="0"/>
              <a:t>SELECT * FROM orders WHERE </a:t>
            </a:r>
            <a:r>
              <a:rPr lang="en-US" dirty="0" err="1"/>
              <a:t>order_date</a:t>
            </a:r>
            <a:r>
              <a:rPr lang="en-US" dirty="0"/>
              <a:t> BETWEEN '2025-02-01' AND '2025-02-28';</a:t>
            </a:r>
            <a:endParaRPr lang="en-IN" dirty="0"/>
          </a:p>
        </p:txBody>
      </p:sp>
      <p:pic>
        <p:nvPicPr>
          <p:cNvPr id="5" name="Picture 4">
            <a:extLst>
              <a:ext uri="{FF2B5EF4-FFF2-40B4-BE49-F238E27FC236}">
                <a16:creationId xmlns:a16="http://schemas.microsoft.com/office/drawing/2014/main" id="{90B9D9D2-B1EE-4699-BA3A-AC616EA79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251" y="3043182"/>
            <a:ext cx="4464995" cy="1694187"/>
          </a:xfrm>
          <a:prstGeom prst="rect">
            <a:avLst/>
          </a:prstGeom>
        </p:spPr>
      </p:pic>
    </p:spTree>
    <p:extLst>
      <p:ext uri="{BB962C8B-B14F-4D97-AF65-F5344CB8AC3E}">
        <p14:creationId xmlns:p14="http://schemas.microsoft.com/office/powerpoint/2010/main" val="299929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C944D-C5F5-01E7-04C9-CF6EDD984049}"/>
              </a:ext>
            </a:extLst>
          </p:cNvPr>
          <p:cNvSpPr>
            <a:spLocks noGrp="1"/>
          </p:cNvSpPr>
          <p:nvPr>
            <p:ph type="title"/>
          </p:nvPr>
        </p:nvSpPr>
        <p:spPr>
          <a:xfrm>
            <a:off x="1097280" y="1322962"/>
            <a:ext cx="10058400" cy="414398"/>
          </a:xfrm>
        </p:spPr>
        <p:txBody>
          <a:bodyPr>
            <a:normAutofit fontScale="90000"/>
          </a:bodyPr>
          <a:lstStyle/>
          <a:p>
            <a:r>
              <a:rPr lang="en-US" sz="2400" dirty="0"/>
              <a:t>3.Display unique product names.</a:t>
            </a:r>
            <a:endParaRPr lang="en-IN" sz="2400" dirty="0"/>
          </a:p>
        </p:txBody>
      </p:sp>
      <p:sp>
        <p:nvSpPr>
          <p:cNvPr id="3" name="TextBox 2">
            <a:extLst>
              <a:ext uri="{FF2B5EF4-FFF2-40B4-BE49-F238E27FC236}">
                <a16:creationId xmlns:a16="http://schemas.microsoft.com/office/drawing/2014/main" id="{01DCB56E-47B6-7ADE-32CB-C52367506E2F}"/>
              </a:ext>
            </a:extLst>
          </p:cNvPr>
          <p:cNvSpPr txBox="1"/>
          <p:nvPr/>
        </p:nvSpPr>
        <p:spPr>
          <a:xfrm>
            <a:off x="1254868" y="2305455"/>
            <a:ext cx="6984460" cy="369332"/>
          </a:xfrm>
          <a:prstGeom prst="rect">
            <a:avLst/>
          </a:prstGeom>
          <a:noFill/>
        </p:spPr>
        <p:txBody>
          <a:bodyPr wrap="square" rtlCol="0">
            <a:spAutoFit/>
          </a:bodyPr>
          <a:lstStyle/>
          <a:p>
            <a:r>
              <a:rPr lang="en-US" dirty="0"/>
              <a:t>SELECT DISTINCT </a:t>
            </a:r>
            <a:r>
              <a:rPr lang="en-US" dirty="0" err="1"/>
              <a:t>product_name</a:t>
            </a:r>
            <a:r>
              <a:rPr lang="en-US" dirty="0"/>
              <a:t> FROM products;</a:t>
            </a:r>
            <a:endParaRPr lang="en-IN" dirty="0"/>
          </a:p>
        </p:txBody>
      </p:sp>
      <p:pic>
        <p:nvPicPr>
          <p:cNvPr id="5" name="Picture 4">
            <a:extLst>
              <a:ext uri="{FF2B5EF4-FFF2-40B4-BE49-F238E27FC236}">
                <a16:creationId xmlns:a16="http://schemas.microsoft.com/office/drawing/2014/main" id="{CE5B232E-39C5-67A8-7075-D5BA7D668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8970" y="2304892"/>
            <a:ext cx="2499081" cy="3405243"/>
          </a:xfrm>
          <a:prstGeom prst="rect">
            <a:avLst/>
          </a:prstGeom>
        </p:spPr>
      </p:pic>
    </p:spTree>
    <p:extLst>
      <p:ext uri="{BB962C8B-B14F-4D97-AF65-F5344CB8AC3E}">
        <p14:creationId xmlns:p14="http://schemas.microsoft.com/office/powerpoint/2010/main" val="2819966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A2CA-19B4-0FC8-4D6C-16D0145CCD05}"/>
              </a:ext>
            </a:extLst>
          </p:cNvPr>
          <p:cNvSpPr>
            <a:spLocks noGrp="1"/>
          </p:cNvSpPr>
          <p:nvPr>
            <p:ph type="title"/>
          </p:nvPr>
        </p:nvSpPr>
        <p:spPr>
          <a:xfrm>
            <a:off x="1066800" y="87549"/>
            <a:ext cx="10058400" cy="453309"/>
          </a:xfrm>
        </p:spPr>
        <p:txBody>
          <a:bodyPr>
            <a:normAutofit fontScale="90000"/>
          </a:bodyPr>
          <a:lstStyle/>
          <a:p>
            <a:pPr algn="ctr"/>
            <a:r>
              <a:rPr lang="en-US" sz="2800" dirty="0">
                <a:solidFill>
                  <a:schemeClr val="accent5"/>
                </a:solidFill>
              </a:rPr>
              <a:t>QUER</a:t>
            </a:r>
            <a:r>
              <a:rPr lang="en-US" sz="2800" dirty="0"/>
              <a:t>IES(</a:t>
            </a:r>
            <a:r>
              <a:rPr lang="en-US" sz="2800" dirty="0">
                <a:solidFill>
                  <a:schemeClr val="accent5"/>
                </a:solidFill>
              </a:rPr>
              <a:t>Aggregate</a:t>
            </a:r>
            <a:r>
              <a:rPr lang="en-US" sz="2800" dirty="0"/>
              <a:t> Functions)</a:t>
            </a:r>
            <a:endParaRPr lang="en-IN" dirty="0"/>
          </a:p>
        </p:txBody>
      </p:sp>
      <p:sp>
        <p:nvSpPr>
          <p:cNvPr id="3" name="TextBox 2">
            <a:extLst>
              <a:ext uri="{FF2B5EF4-FFF2-40B4-BE49-F238E27FC236}">
                <a16:creationId xmlns:a16="http://schemas.microsoft.com/office/drawing/2014/main" id="{04199E44-5AE8-C228-3B8C-633E3D465963}"/>
              </a:ext>
            </a:extLst>
          </p:cNvPr>
          <p:cNvSpPr txBox="1"/>
          <p:nvPr/>
        </p:nvSpPr>
        <p:spPr>
          <a:xfrm>
            <a:off x="1147864" y="1439694"/>
            <a:ext cx="6284068" cy="738664"/>
          </a:xfrm>
          <a:prstGeom prst="rect">
            <a:avLst/>
          </a:prstGeom>
          <a:noFill/>
        </p:spPr>
        <p:txBody>
          <a:bodyPr wrap="square" rtlCol="0">
            <a:spAutoFit/>
          </a:bodyPr>
          <a:lstStyle/>
          <a:p>
            <a:r>
              <a:rPr lang="en-US" sz="2400" dirty="0">
                <a:latin typeface="+mj-lt"/>
              </a:rPr>
              <a:t>4.Find the total number of customers.</a:t>
            </a:r>
          </a:p>
          <a:p>
            <a:endParaRPr lang="en-IN" dirty="0"/>
          </a:p>
        </p:txBody>
      </p:sp>
      <p:sp>
        <p:nvSpPr>
          <p:cNvPr id="4" name="TextBox 3">
            <a:extLst>
              <a:ext uri="{FF2B5EF4-FFF2-40B4-BE49-F238E27FC236}">
                <a16:creationId xmlns:a16="http://schemas.microsoft.com/office/drawing/2014/main" id="{6F93CCE4-010C-E9D1-E6C2-915866781919}"/>
              </a:ext>
            </a:extLst>
          </p:cNvPr>
          <p:cNvSpPr txBox="1"/>
          <p:nvPr/>
        </p:nvSpPr>
        <p:spPr>
          <a:xfrm>
            <a:off x="1254868" y="2178358"/>
            <a:ext cx="5992238" cy="369332"/>
          </a:xfrm>
          <a:prstGeom prst="rect">
            <a:avLst/>
          </a:prstGeom>
          <a:noFill/>
        </p:spPr>
        <p:txBody>
          <a:bodyPr wrap="square" rtlCol="0">
            <a:spAutoFit/>
          </a:bodyPr>
          <a:lstStyle/>
          <a:p>
            <a:r>
              <a:rPr lang="en-US" dirty="0"/>
              <a:t>SELECT COUNT(*) AS "</a:t>
            </a:r>
            <a:r>
              <a:rPr lang="en-US" dirty="0" err="1"/>
              <a:t>Total_Customers</a:t>
            </a:r>
            <a:r>
              <a:rPr lang="en-US" dirty="0"/>
              <a:t>" FROM customers;</a:t>
            </a:r>
            <a:endParaRPr lang="en-IN" dirty="0"/>
          </a:p>
        </p:txBody>
      </p:sp>
      <p:pic>
        <p:nvPicPr>
          <p:cNvPr id="6" name="Picture 5">
            <a:extLst>
              <a:ext uri="{FF2B5EF4-FFF2-40B4-BE49-F238E27FC236}">
                <a16:creationId xmlns:a16="http://schemas.microsoft.com/office/drawing/2014/main" id="{9F391EA7-4228-EE81-8167-12A81EDDD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5191" y="3190841"/>
            <a:ext cx="2548647" cy="962869"/>
          </a:xfrm>
          <a:prstGeom prst="rect">
            <a:avLst/>
          </a:prstGeom>
        </p:spPr>
      </p:pic>
    </p:spTree>
    <p:extLst>
      <p:ext uri="{BB962C8B-B14F-4D97-AF65-F5344CB8AC3E}">
        <p14:creationId xmlns:p14="http://schemas.microsoft.com/office/powerpoint/2010/main" val="1801509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304B9-DB94-0602-DACB-352CF0BBA36D}"/>
              </a:ext>
            </a:extLst>
          </p:cNvPr>
          <p:cNvSpPr>
            <a:spLocks noGrp="1"/>
          </p:cNvSpPr>
          <p:nvPr>
            <p:ph type="title"/>
          </p:nvPr>
        </p:nvSpPr>
        <p:spPr>
          <a:xfrm>
            <a:off x="1097280" y="1091029"/>
            <a:ext cx="10058400" cy="646331"/>
          </a:xfrm>
        </p:spPr>
        <p:txBody>
          <a:bodyPr>
            <a:normAutofit/>
          </a:bodyPr>
          <a:lstStyle/>
          <a:p>
            <a:r>
              <a:rPr lang="en-US" sz="3200" dirty="0"/>
              <a:t>5.Find the average product price.</a:t>
            </a:r>
            <a:endParaRPr lang="en-IN" sz="3200" dirty="0"/>
          </a:p>
        </p:txBody>
      </p:sp>
      <p:sp>
        <p:nvSpPr>
          <p:cNvPr id="3" name="TextBox 2">
            <a:extLst>
              <a:ext uri="{FF2B5EF4-FFF2-40B4-BE49-F238E27FC236}">
                <a16:creationId xmlns:a16="http://schemas.microsoft.com/office/drawing/2014/main" id="{58FC80EC-FE92-C0DF-4DD9-BEE24FDC5607}"/>
              </a:ext>
            </a:extLst>
          </p:cNvPr>
          <p:cNvSpPr txBox="1"/>
          <p:nvPr/>
        </p:nvSpPr>
        <p:spPr>
          <a:xfrm>
            <a:off x="1235413" y="2208179"/>
            <a:ext cx="6332706" cy="646331"/>
          </a:xfrm>
          <a:prstGeom prst="rect">
            <a:avLst/>
          </a:prstGeom>
          <a:noFill/>
        </p:spPr>
        <p:txBody>
          <a:bodyPr wrap="square" rtlCol="0">
            <a:spAutoFit/>
          </a:bodyPr>
          <a:lstStyle/>
          <a:p>
            <a:r>
              <a:rPr lang="en-US" dirty="0"/>
              <a:t>SELECT ROUND(AVG(price),2) AS "AVERAGE_PRICE" FROM products;</a:t>
            </a:r>
            <a:endParaRPr lang="en-IN" dirty="0"/>
          </a:p>
        </p:txBody>
      </p:sp>
      <p:pic>
        <p:nvPicPr>
          <p:cNvPr id="5" name="Picture 4">
            <a:extLst>
              <a:ext uri="{FF2B5EF4-FFF2-40B4-BE49-F238E27FC236}">
                <a16:creationId xmlns:a16="http://schemas.microsoft.com/office/drawing/2014/main" id="{BEEF9A21-E36E-B4C3-A8C7-7FBC281550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2472" y="3233709"/>
            <a:ext cx="1952728" cy="769781"/>
          </a:xfrm>
          <a:prstGeom prst="rect">
            <a:avLst/>
          </a:prstGeom>
        </p:spPr>
      </p:pic>
      <p:sp>
        <p:nvSpPr>
          <p:cNvPr id="4" name="TextBox 3">
            <a:extLst>
              <a:ext uri="{FF2B5EF4-FFF2-40B4-BE49-F238E27FC236}">
                <a16:creationId xmlns:a16="http://schemas.microsoft.com/office/drawing/2014/main" id="{9E2DA8F6-A01D-7F89-3A79-C1F2A24FDF2C}"/>
              </a:ext>
            </a:extLst>
          </p:cNvPr>
          <p:cNvSpPr txBox="1"/>
          <p:nvPr/>
        </p:nvSpPr>
        <p:spPr>
          <a:xfrm>
            <a:off x="2577830" y="173221"/>
            <a:ext cx="7198468" cy="584775"/>
          </a:xfrm>
          <a:prstGeom prst="rect">
            <a:avLst/>
          </a:prstGeom>
          <a:noFill/>
        </p:spPr>
        <p:txBody>
          <a:bodyPr wrap="square" rtlCol="0">
            <a:spAutoFit/>
          </a:bodyPr>
          <a:lstStyle/>
          <a:p>
            <a:pPr algn="ctr"/>
            <a:r>
              <a:rPr lang="en-IN" sz="3200" dirty="0">
                <a:solidFill>
                  <a:schemeClr val="accent4"/>
                </a:solidFill>
                <a:latin typeface="+mj-lt"/>
              </a:rPr>
              <a:t>AGGR</a:t>
            </a:r>
            <a:r>
              <a:rPr lang="en-IN" sz="3200" dirty="0">
                <a:latin typeface="+mj-lt"/>
              </a:rPr>
              <a:t>EGATE </a:t>
            </a:r>
            <a:r>
              <a:rPr lang="en-IN" sz="3200" dirty="0">
                <a:solidFill>
                  <a:schemeClr val="accent4"/>
                </a:solidFill>
                <a:latin typeface="+mj-lt"/>
              </a:rPr>
              <a:t>FUNC</a:t>
            </a:r>
            <a:r>
              <a:rPr lang="en-IN" sz="3200" dirty="0">
                <a:latin typeface="+mj-lt"/>
              </a:rPr>
              <a:t>TIONS</a:t>
            </a:r>
          </a:p>
        </p:txBody>
      </p:sp>
    </p:spTree>
    <p:extLst>
      <p:ext uri="{BB962C8B-B14F-4D97-AF65-F5344CB8AC3E}">
        <p14:creationId xmlns:p14="http://schemas.microsoft.com/office/powerpoint/2010/main" val="2718144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4725B-E1C9-CDDB-BBD1-05FCEE6EF6AA}"/>
              </a:ext>
            </a:extLst>
          </p:cNvPr>
          <p:cNvSpPr>
            <a:spLocks noGrp="1"/>
          </p:cNvSpPr>
          <p:nvPr>
            <p:ph type="title"/>
          </p:nvPr>
        </p:nvSpPr>
        <p:spPr/>
        <p:txBody>
          <a:bodyPr>
            <a:normAutofit/>
          </a:bodyPr>
          <a:lstStyle/>
          <a:p>
            <a:r>
              <a:rPr lang="en-US" sz="3200" dirty="0"/>
              <a:t>6.Find the most expensive product.</a:t>
            </a:r>
            <a:endParaRPr lang="en-IN" sz="3200" dirty="0"/>
          </a:p>
        </p:txBody>
      </p:sp>
      <p:sp>
        <p:nvSpPr>
          <p:cNvPr id="3" name="TextBox 2">
            <a:extLst>
              <a:ext uri="{FF2B5EF4-FFF2-40B4-BE49-F238E27FC236}">
                <a16:creationId xmlns:a16="http://schemas.microsoft.com/office/drawing/2014/main" id="{7EC440D7-40F8-3642-98C1-E7EB750A48C0}"/>
              </a:ext>
            </a:extLst>
          </p:cNvPr>
          <p:cNvSpPr txBox="1"/>
          <p:nvPr/>
        </p:nvSpPr>
        <p:spPr>
          <a:xfrm>
            <a:off x="1215957" y="2315183"/>
            <a:ext cx="7645941" cy="646331"/>
          </a:xfrm>
          <a:prstGeom prst="rect">
            <a:avLst/>
          </a:prstGeom>
          <a:noFill/>
        </p:spPr>
        <p:txBody>
          <a:bodyPr wrap="square" rtlCol="0">
            <a:spAutoFit/>
          </a:bodyPr>
          <a:lstStyle/>
          <a:p>
            <a:r>
              <a:rPr lang="en-US" dirty="0"/>
              <a:t>SELECT </a:t>
            </a:r>
            <a:r>
              <a:rPr lang="en-US" dirty="0" err="1"/>
              <a:t>product_name</a:t>
            </a:r>
            <a:r>
              <a:rPr lang="en-US" dirty="0"/>
              <a:t> AS "</a:t>
            </a:r>
            <a:r>
              <a:rPr lang="en-US" dirty="0" err="1"/>
              <a:t>Name",MAX</a:t>
            </a:r>
            <a:r>
              <a:rPr lang="en-US" dirty="0"/>
              <a:t>(price) AS "</a:t>
            </a:r>
            <a:r>
              <a:rPr lang="en-US" dirty="0" err="1"/>
              <a:t>Expensive_Product</a:t>
            </a:r>
            <a:r>
              <a:rPr lang="en-US" dirty="0"/>
              <a:t>" FROM products group by </a:t>
            </a:r>
            <a:r>
              <a:rPr lang="en-US" dirty="0" err="1"/>
              <a:t>product_name</a:t>
            </a:r>
            <a:r>
              <a:rPr lang="en-US" dirty="0"/>
              <a:t> LIMIT 1;</a:t>
            </a:r>
            <a:endParaRPr lang="en-IN" dirty="0"/>
          </a:p>
        </p:txBody>
      </p:sp>
      <p:pic>
        <p:nvPicPr>
          <p:cNvPr id="5" name="Picture 4">
            <a:extLst>
              <a:ext uri="{FF2B5EF4-FFF2-40B4-BE49-F238E27FC236}">
                <a16:creationId xmlns:a16="http://schemas.microsoft.com/office/drawing/2014/main" id="{F3A344BF-752F-64DE-B029-701466C12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08" y="3171788"/>
            <a:ext cx="2718325" cy="884645"/>
          </a:xfrm>
          <a:prstGeom prst="rect">
            <a:avLst/>
          </a:prstGeom>
        </p:spPr>
      </p:pic>
    </p:spTree>
    <p:extLst>
      <p:ext uri="{BB962C8B-B14F-4D97-AF65-F5344CB8AC3E}">
        <p14:creationId xmlns:p14="http://schemas.microsoft.com/office/powerpoint/2010/main" val="2197940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AD545-F62D-CC1A-032E-005DC6A4AF41}"/>
              </a:ext>
            </a:extLst>
          </p:cNvPr>
          <p:cNvSpPr>
            <a:spLocks noGrp="1"/>
          </p:cNvSpPr>
          <p:nvPr>
            <p:ph type="title"/>
          </p:nvPr>
        </p:nvSpPr>
        <p:spPr/>
        <p:txBody>
          <a:bodyPr>
            <a:normAutofit/>
          </a:bodyPr>
          <a:lstStyle/>
          <a:p>
            <a:r>
              <a:rPr lang="en-US" sz="3200" dirty="0"/>
              <a:t>7.Count products in each category.</a:t>
            </a:r>
          </a:p>
        </p:txBody>
      </p:sp>
      <p:sp>
        <p:nvSpPr>
          <p:cNvPr id="3" name="TextBox 2">
            <a:extLst>
              <a:ext uri="{FF2B5EF4-FFF2-40B4-BE49-F238E27FC236}">
                <a16:creationId xmlns:a16="http://schemas.microsoft.com/office/drawing/2014/main" id="{60A938BE-6645-B32A-03D7-A309B2C29857}"/>
              </a:ext>
            </a:extLst>
          </p:cNvPr>
          <p:cNvSpPr txBox="1"/>
          <p:nvPr/>
        </p:nvSpPr>
        <p:spPr>
          <a:xfrm>
            <a:off x="1215957" y="2256817"/>
            <a:ext cx="7305473" cy="646331"/>
          </a:xfrm>
          <a:prstGeom prst="rect">
            <a:avLst/>
          </a:prstGeom>
          <a:noFill/>
        </p:spPr>
        <p:txBody>
          <a:bodyPr wrap="square" rtlCol="0">
            <a:spAutoFit/>
          </a:bodyPr>
          <a:lstStyle/>
          <a:p>
            <a:r>
              <a:rPr lang="en-US" dirty="0"/>
              <a:t>SELECT </a:t>
            </a:r>
            <a:r>
              <a:rPr lang="en-US" dirty="0" err="1"/>
              <a:t>category,COUNT</a:t>
            </a:r>
            <a:r>
              <a:rPr lang="en-US" dirty="0"/>
              <a:t>(category) as "</a:t>
            </a:r>
            <a:r>
              <a:rPr lang="en-US" dirty="0" err="1"/>
              <a:t>Total_Categories</a:t>
            </a:r>
            <a:r>
              <a:rPr lang="en-US" dirty="0"/>
              <a:t>" From PRODUCTS group by Category;</a:t>
            </a:r>
            <a:endParaRPr lang="en-IN" dirty="0"/>
          </a:p>
        </p:txBody>
      </p:sp>
      <p:pic>
        <p:nvPicPr>
          <p:cNvPr id="5" name="Picture 4">
            <a:extLst>
              <a:ext uri="{FF2B5EF4-FFF2-40B4-BE49-F238E27FC236}">
                <a16:creationId xmlns:a16="http://schemas.microsoft.com/office/drawing/2014/main" id="{87D372B9-0C7A-BF2B-0A65-DF2C593CF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3089" y="3105105"/>
            <a:ext cx="3229583" cy="1252886"/>
          </a:xfrm>
          <a:prstGeom prst="rect">
            <a:avLst/>
          </a:prstGeom>
        </p:spPr>
      </p:pic>
    </p:spTree>
    <p:extLst>
      <p:ext uri="{BB962C8B-B14F-4D97-AF65-F5344CB8AC3E}">
        <p14:creationId xmlns:p14="http://schemas.microsoft.com/office/powerpoint/2010/main" val="3708177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4E1D-4514-AA4E-AA15-6C2391477585}"/>
              </a:ext>
            </a:extLst>
          </p:cNvPr>
          <p:cNvSpPr>
            <a:spLocks noGrp="1"/>
          </p:cNvSpPr>
          <p:nvPr>
            <p:ph type="title"/>
          </p:nvPr>
        </p:nvSpPr>
        <p:spPr/>
        <p:txBody>
          <a:bodyPr>
            <a:normAutofit/>
          </a:bodyPr>
          <a:lstStyle/>
          <a:p>
            <a:r>
              <a:rPr lang="en-US" sz="3200" dirty="0"/>
              <a:t>8.Count orders placed by each customer.</a:t>
            </a:r>
            <a:endParaRPr lang="en-IN" sz="3200" dirty="0"/>
          </a:p>
        </p:txBody>
      </p:sp>
      <p:sp>
        <p:nvSpPr>
          <p:cNvPr id="3" name="TextBox 2">
            <a:extLst>
              <a:ext uri="{FF2B5EF4-FFF2-40B4-BE49-F238E27FC236}">
                <a16:creationId xmlns:a16="http://schemas.microsoft.com/office/drawing/2014/main" id="{CE87719F-A001-1A86-24A0-D3D70A46A479}"/>
              </a:ext>
            </a:extLst>
          </p:cNvPr>
          <p:cNvSpPr txBox="1"/>
          <p:nvPr/>
        </p:nvSpPr>
        <p:spPr>
          <a:xfrm>
            <a:off x="1293779" y="2256817"/>
            <a:ext cx="6673174" cy="646331"/>
          </a:xfrm>
          <a:prstGeom prst="rect">
            <a:avLst/>
          </a:prstGeom>
          <a:noFill/>
        </p:spPr>
        <p:txBody>
          <a:bodyPr wrap="square" rtlCol="0">
            <a:spAutoFit/>
          </a:bodyPr>
          <a:lstStyle/>
          <a:p>
            <a:r>
              <a:rPr lang="en-US" dirty="0"/>
              <a:t>SELECT </a:t>
            </a:r>
            <a:r>
              <a:rPr lang="en-US" dirty="0" err="1"/>
              <a:t>customer_id,count</a:t>
            </a:r>
            <a:r>
              <a:rPr lang="en-US" dirty="0"/>
              <a:t>(</a:t>
            </a:r>
            <a:r>
              <a:rPr lang="en-US" dirty="0" err="1"/>
              <a:t>order_id</a:t>
            </a:r>
            <a:r>
              <a:rPr lang="en-US" dirty="0"/>
              <a:t>) as "</a:t>
            </a:r>
            <a:r>
              <a:rPr lang="en-US" dirty="0" err="1"/>
              <a:t>Total_Orders</a:t>
            </a:r>
            <a:r>
              <a:rPr lang="en-US" dirty="0"/>
              <a:t>" from orders group by </a:t>
            </a:r>
            <a:r>
              <a:rPr lang="en-US" dirty="0" err="1"/>
              <a:t>customer_id</a:t>
            </a:r>
            <a:r>
              <a:rPr lang="en-US" dirty="0"/>
              <a:t>;</a:t>
            </a:r>
            <a:endParaRPr lang="en-IN" dirty="0"/>
          </a:p>
        </p:txBody>
      </p:sp>
      <p:pic>
        <p:nvPicPr>
          <p:cNvPr id="5" name="Picture 4">
            <a:extLst>
              <a:ext uri="{FF2B5EF4-FFF2-40B4-BE49-F238E27FC236}">
                <a16:creationId xmlns:a16="http://schemas.microsoft.com/office/drawing/2014/main" id="{056E4E2E-2068-AB72-1F0E-1DD5CC2D2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051" y="3010988"/>
            <a:ext cx="2937902" cy="2562961"/>
          </a:xfrm>
          <a:prstGeom prst="rect">
            <a:avLst/>
          </a:prstGeom>
        </p:spPr>
      </p:pic>
    </p:spTree>
    <p:extLst>
      <p:ext uri="{BB962C8B-B14F-4D97-AF65-F5344CB8AC3E}">
        <p14:creationId xmlns:p14="http://schemas.microsoft.com/office/powerpoint/2010/main" val="1593517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A29DB-E176-244D-6ACA-4001CE5925F3}"/>
              </a:ext>
            </a:extLst>
          </p:cNvPr>
          <p:cNvSpPr>
            <a:spLocks noGrp="1"/>
          </p:cNvSpPr>
          <p:nvPr>
            <p:ph type="title"/>
          </p:nvPr>
        </p:nvSpPr>
        <p:spPr>
          <a:xfrm>
            <a:off x="1066800" y="0"/>
            <a:ext cx="10058400" cy="695891"/>
          </a:xfrm>
        </p:spPr>
        <p:txBody>
          <a:bodyPr>
            <a:normAutofit/>
          </a:bodyPr>
          <a:lstStyle/>
          <a:p>
            <a:pPr algn="ctr"/>
            <a:r>
              <a:rPr lang="en-IN" sz="4000" dirty="0">
                <a:solidFill>
                  <a:schemeClr val="accent5"/>
                </a:solidFill>
              </a:rPr>
              <a:t>Joi</a:t>
            </a:r>
            <a:r>
              <a:rPr lang="en-IN" sz="4000" dirty="0"/>
              <a:t>ns</a:t>
            </a:r>
          </a:p>
        </p:txBody>
      </p:sp>
      <p:sp>
        <p:nvSpPr>
          <p:cNvPr id="3" name="TextBox 2">
            <a:extLst>
              <a:ext uri="{FF2B5EF4-FFF2-40B4-BE49-F238E27FC236}">
                <a16:creationId xmlns:a16="http://schemas.microsoft.com/office/drawing/2014/main" id="{68D7F3B7-1DF9-476A-1115-4C3A2ADE84B4}"/>
              </a:ext>
            </a:extLst>
          </p:cNvPr>
          <p:cNvSpPr txBox="1"/>
          <p:nvPr/>
        </p:nvSpPr>
        <p:spPr>
          <a:xfrm>
            <a:off x="1138136" y="836579"/>
            <a:ext cx="7286017" cy="1569660"/>
          </a:xfrm>
          <a:prstGeom prst="rect">
            <a:avLst/>
          </a:prstGeom>
          <a:noFill/>
        </p:spPr>
        <p:txBody>
          <a:bodyPr wrap="square" rtlCol="0">
            <a:spAutoFit/>
          </a:bodyPr>
          <a:lstStyle/>
          <a:p>
            <a:r>
              <a:rPr lang="en-US" sz="3200" dirty="0">
                <a:latin typeface="+mj-lt"/>
              </a:rPr>
              <a:t>9.Find total amount spent by each customer.</a:t>
            </a:r>
          </a:p>
          <a:p>
            <a:endParaRPr lang="en-IN" sz="3200" dirty="0">
              <a:latin typeface="+mj-lt"/>
            </a:endParaRPr>
          </a:p>
        </p:txBody>
      </p:sp>
      <p:sp>
        <p:nvSpPr>
          <p:cNvPr id="4" name="TextBox 3">
            <a:extLst>
              <a:ext uri="{FF2B5EF4-FFF2-40B4-BE49-F238E27FC236}">
                <a16:creationId xmlns:a16="http://schemas.microsoft.com/office/drawing/2014/main" id="{4A2CC05B-7020-31EB-624D-CF9C6B543E0E}"/>
              </a:ext>
            </a:extLst>
          </p:cNvPr>
          <p:cNvSpPr txBox="1"/>
          <p:nvPr/>
        </p:nvSpPr>
        <p:spPr>
          <a:xfrm>
            <a:off x="1138137" y="2130357"/>
            <a:ext cx="10204314" cy="1477328"/>
          </a:xfrm>
          <a:prstGeom prst="rect">
            <a:avLst/>
          </a:prstGeom>
          <a:noFill/>
        </p:spPr>
        <p:txBody>
          <a:bodyPr wrap="square" rtlCol="0">
            <a:spAutoFit/>
          </a:bodyPr>
          <a:lstStyle/>
          <a:p>
            <a:r>
              <a:rPr lang="en-IN" dirty="0"/>
              <a:t>SELECT </a:t>
            </a:r>
            <a:r>
              <a:rPr lang="en-IN" dirty="0" err="1"/>
              <a:t>c.customer_id,c.customer_name,SUM</a:t>
            </a:r>
            <a:r>
              <a:rPr lang="en-IN" dirty="0"/>
              <a:t>(</a:t>
            </a:r>
            <a:r>
              <a:rPr lang="en-IN" dirty="0" err="1"/>
              <a:t>p.price</a:t>
            </a:r>
            <a:r>
              <a:rPr lang="en-IN" dirty="0"/>
              <a:t> * </a:t>
            </a:r>
            <a:r>
              <a:rPr lang="en-IN" dirty="0" err="1"/>
              <a:t>od.quantity</a:t>
            </a:r>
            <a:r>
              <a:rPr lang="en-IN" dirty="0"/>
              <a:t>) AS </a:t>
            </a:r>
            <a:r>
              <a:rPr lang="en-IN" dirty="0" err="1"/>
              <a:t>total_spent</a:t>
            </a:r>
            <a:r>
              <a:rPr lang="en-IN" dirty="0"/>
              <a:t> FROM Customers c JOIN Orders o ON </a:t>
            </a:r>
            <a:r>
              <a:rPr lang="en-IN" dirty="0" err="1"/>
              <a:t>c.customer_id</a:t>
            </a:r>
            <a:r>
              <a:rPr lang="en-IN" dirty="0"/>
              <a:t> = </a:t>
            </a:r>
            <a:r>
              <a:rPr lang="en-IN" dirty="0" err="1"/>
              <a:t>o.customer_id</a:t>
            </a:r>
            <a:r>
              <a:rPr lang="en-IN" dirty="0"/>
              <a:t> JOIN </a:t>
            </a:r>
            <a:r>
              <a:rPr lang="en-IN" dirty="0" err="1"/>
              <a:t>Order_Details</a:t>
            </a:r>
            <a:r>
              <a:rPr lang="en-IN" dirty="0"/>
              <a:t> od ON </a:t>
            </a:r>
            <a:r>
              <a:rPr lang="en-IN" dirty="0" err="1"/>
              <a:t>o.order_id</a:t>
            </a:r>
            <a:r>
              <a:rPr lang="en-IN" dirty="0"/>
              <a:t> = </a:t>
            </a:r>
            <a:r>
              <a:rPr lang="en-IN" dirty="0" err="1"/>
              <a:t>od.order_id</a:t>
            </a:r>
            <a:r>
              <a:rPr lang="en-IN" dirty="0"/>
              <a:t> JOIN Products p ON </a:t>
            </a:r>
            <a:r>
              <a:rPr lang="en-IN" dirty="0" err="1"/>
              <a:t>od.product_id</a:t>
            </a:r>
            <a:r>
              <a:rPr lang="en-IN" dirty="0"/>
              <a:t> = </a:t>
            </a:r>
            <a:r>
              <a:rPr lang="en-IN" dirty="0" err="1"/>
              <a:t>p.product_id</a:t>
            </a:r>
            <a:r>
              <a:rPr lang="en-IN" dirty="0"/>
              <a:t> GROUP BY </a:t>
            </a:r>
            <a:r>
              <a:rPr lang="en-IN" dirty="0" err="1"/>
              <a:t>c.customer_id</a:t>
            </a:r>
            <a:r>
              <a:rPr lang="en-IN" dirty="0"/>
              <a:t>, </a:t>
            </a:r>
            <a:r>
              <a:rPr lang="en-IN" dirty="0" err="1"/>
              <a:t>c.customer_name</a:t>
            </a:r>
            <a:r>
              <a:rPr lang="en-IN" dirty="0"/>
              <a:t>;</a:t>
            </a:r>
          </a:p>
          <a:p>
            <a:endParaRPr lang="en-IN" dirty="0"/>
          </a:p>
          <a:p>
            <a:endParaRPr lang="en-IN" dirty="0"/>
          </a:p>
        </p:txBody>
      </p:sp>
      <p:pic>
        <p:nvPicPr>
          <p:cNvPr id="6" name="Picture 5">
            <a:extLst>
              <a:ext uri="{FF2B5EF4-FFF2-40B4-BE49-F238E27FC236}">
                <a16:creationId xmlns:a16="http://schemas.microsoft.com/office/drawing/2014/main" id="{73292FC4-222E-F0F6-5406-DA264C63AD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9430" y="3196819"/>
            <a:ext cx="4630366" cy="2445223"/>
          </a:xfrm>
          <a:prstGeom prst="rect">
            <a:avLst/>
          </a:prstGeom>
        </p:spPr>
      </p:pic>
    </p:spTree>
    <p:extLst>
      <p:ext uri="{BB962C8B-B14F-4D97-AF65-F5344CB8AC3E}">
        <p14:creationId xmlns:p14="http://schemas.microsoft.com/office/powerpoint/2010/main" val="100841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01545-3624-2D35-82AA-7547C73CC45E}"/>
              </a:ext>
            </a:extLst>
          </p:cNvPr>
          <p:cNvSpPr>
            <a:spLocks noGrp="1"/>
          </p:cNvSpPr>
          <p:nvPr>
            <p:ph type="title"/>
          </p:nvPr>
        </p:nvSpPr>
        <p:spPr>
          <a:xfrm>
            <a:off x="1097280" y="1099226"/>
            <a:ext cx="10058400" cy="638134"/>
          </a:xfrm>
        </p:spPr>
        <p:txBody>
          <a:bodyPr>
            <a:noAutofit/>
          </a:bodyPr>
          <a:lstStyle/>
          <a:p>
            <a:r>
              <a:rPr lang="en-US" sz="3200" dirty="0"/>
              <a:t>10.Find total sales quantity by category.</a:t>
            </a:r>
            <a:endParaRPr lang="en-IN" sz="3200" dirty="0"/>
          </a:p>
        </p:txBody>
      </p:sp>
      <p:sp>
        <p:nvSpPr>
          <p:cNvPr id="3" name="TextBox 2">
            <a:extLst>
              <a:ext uri="{FF2B5EF4-FFF2-40B4-BE49-F238E27FC236}">
                <a16:creationId xmlns:a16="http://schemas.microsoft.com/office/drawing/2014/main" id="{60B7DF07-F913-85DC-E0FC-193240DCC824}"/>
              </a:ext>
            </a:extLst>
          </p:cNvPr>
          <p:cNvSpPr txBox="1"/>
          <p:nvPr/>
        </p:nvSpPr>
        <p:spPr>
          <a:xfrm>
            <a:off x="1264596" y="2247089"/>
            <a:ext cx="8083685" cy="646331"/>
          </a:xfrm>
          <a:prstGeom prst="rect">
            <a:avLst/>
          </a:prstGeom>
          <a:noFill/>
        </p:spPr>
        <p:txBody>
          <a:bodyPr wrap="square" rtlCol="0">
            <a:spAutoFit/>
          </a:bodyPr>
          <a:lstStyle/>
          <a:p>
            <a:r>
              <a:rPr lang="en-US" dirty="0"/>
              <a:t>SELECT </a:t>
            </a:r>
            <a:r>
              <a:rPr lang="en-US" dirty="0" err="1"/>
              <a:t>P.category,sum</a:t>
            </a:r>
            <a:r>
              <a:rPr lang="en-US" dirty="0"/>
              <a:t>(</a:t>
            </a:r>
            <a:r>
              <a:rPr lang="en-US" dirty="0" err="1"/>
              <a:t>O.quantity</a:t>
            </a:r>
            <a:r>
              <a:rPr lang="en-US" dirty="0"/>
              <a:t>) as </a:t>
            </a:r>
            <a:r>
              <a:rPr lang="en-US" dirty="0" err="1"/>
              <a:t>Total_Quantity</a:t>
            </a:r>
            <a:r>
              <a:rPr lang="en-US" dirty="0"/>
              <a:t> from products P join </a:t>
            </a:r>
            <a:r>
              <a:rPr lang="en-US" dirty="0" err="1"/>
              <a:t>order_details</a:t>
            </a:r>
            <a:r>
              <a:rPr lang="en-US" dirty="0"/>
              <a:t> O on </a:t>
            </a:r>
            <a:r>
              <a:rPr lang="en-US" dirty="0" err="1"/>
              <a:t>P.product_id</a:t>
            </a:r>
            <a:r>
              <a:rPr lang="en-US" dirty="0"/>
              <a:t>=</a:t>
            </a:r>
            <a:r>
              <a:rPr lang="en-US" dirty="0" err="1"/>
              <a:t>O.product_id</a:t>
            </a:r>
            <a:r>
              <a:rPr lang="en-US" dirty="0"/>
              <a:t> group by category;</a:t>
            </a:r>
            <a:endParaRPr lang="en-IN" dirty="0"/>
          </a:p>
        </p:txBody>
      </p:sp>
      <p:pic>
        <p:nvPicPr>
          <p:cNvPr id="5" name="Picture 4">
            <a:extLst>
              <a:ext uri="{FF2B5EF4-FFF2-40B4-BE49-F238E27FC236}">
                <a16:creationId xmlns:a16="http://schemas.microsoft.com/office/drawing/2014/main" id="{2FF01070-EBFD-61E1-CC08-944D25BE1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1892" y="3076525"/>
            <a:ext cx="2790779" cy="1252283"/>
          </a:xfrm>
          <a:prstGeom prst="rect">
            <a:avLst/>
          </a:prstGeom>
        </p:spPr>
      </p:pic>
    </p:spTree>
    <p:extLst>
      <p:ext uri="{BB962C8B-B14F-4D97-AF65-F5344CB8AC3E}">
        <p14:creationId xmlns:p14="http://schemas.microsoft.com/office/powerpoint/2010/main" val="2369360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D6B3D-4255-059B-66A8-D8A7ADF1633F}"/>
              </a:ext>
            </a:extLst>
          </p:cNvPr>
          <p:cNvSpPr>
            <a:spLocks noGrp="1"/>
          </p:cNvSpPr>
          <p:nvPr>
            <p:ph type="title"/>
          </p:nvPr>
        </p:nvSpPr>
        <p:spPr/>
        <p:txBody>
          <a:bodyPr>
            <a:normAutofit/>
          </a:bodyPr>
          <a:lstStyle/>
          <a:p>
            <a:r>
              <a:rPr lang="en-US" sz="3200" dirty="0"/>
              <a:t>11.Show customers who placed more than 1 order.</a:t>
            </a:r>
            <a:endParaRPr lang="en-IN" sz="3200" dirty="0"/>
          </a:p>
        </p:txBody>
      </p:sp>
      <p:sp>
        <p:nvSpPr>
          <p:cNvPr id="3" name="TextBox 2">
            <a:extLst>
              <a:ext uri="{FF2B5EF4-FFF2-40B4-BE49-F238E27FC236}">
                <a16:creationId xmlns:a16="http://schemas.microsoft.com/office/drawing/2014/main" id="{619E3DBF-0E27-4348-9A05-F94F49B61E5E}"/>
              </a:ext>
            </a:extLst>
          </p:cNvPr>
          <p:cNvSpPr txBox="1"/>
          <p:nvPr/>
        </p:nvSpPr>
        <p:spPr>
          <a:xfrm>
            <a:off x="1264596" y="2169268"/>
            <a:ext cx="7120647" cy="923330"/>
          </a:xfrm>
          <a:prstGeom prst="rect">
            <a:avLst/>
          </a:prstGeom>
          <a:noFill/>
        </p:spPr>
        <p:txBody>
          <a:bodyPr wrap="square" rtlCol="0">
            <a:spAutoFit/>
          </a:bodyPr>
          <a:lstStyle/>
          <a:p>
            <a:r>
              <a:rPr lang="en-US" dirty="0"/>
              <a:t>SELECT </a:t>
            </a:r>
            <a:r>
              <a:rPr lang="en-US" dirty="0" err="1"/>
              <a:t>C.customer_id,C.customer_name,count</a:t>
            </a:r>
            <a:r>
              <a:rPr lang="en-US" dirty="0"/>
              <a:t>(*) as "</a:t>
            </a:r>
            <a:r>
              <a:rPr lang="en-US" dirty="0" err="1"/>
              <a:t>Total_Orders</a:t>
            </a:r>
            <a:r>
              <a:rPr lang="en-US" dirty="0"/>
              <a:t>" from Customers C </a:t>
            </a:r>
            <a:r>
              <a:rPr lang="en-US" dirty="0" err="1"/>
              <a:t>leftf</a:t>
            </a:r>
            <a:r>
              <a:rPr lang="en-US" dirty="0"/>
              <a:t> join Orders O on </a:t>
            </a:r>
            <a:r>
              <a:rPr lang="en-US" dirty="0" err="1"/>
              <a:t>C.customer_id</a:t>
            </a:r>
            <a:r>
              <a:rPr lang="en-US" dirty="0"/>
              <a:t>=</a:t>
            </a:r>
            <a:r>
              <a:rPr lang="en-US" dirty="0" err="1"/>
              <a:t>O.customer_id</a:t>
            </a:r>
            <a:r>
              <a:rPr lang="en-US" dirty="0"/>
              <a:t> group by </a:t>
            </a:r>
            <a:r>
              <a:rPr lang="en-US" dirty="0" err="1"/>
              <a:t>C.customer_id</a:t>
            </a:r>
            <a:r>
              <a:rPr lang="en-US" dirty="0"/>
              <a:t> having count(*)&gt;1;</a:t>
            </a:r>
            <a:endParaRPr lang="en-IN" dirty="0"/>
          </a:p>
        </p:txBody>
      </p:sp>
      <p:pic>
        <p:nvPicPr>
          <p:cNvPr id="7" name="Picture 6">
            <a:extLst>
              <a:ext uri="{FF2B5EF4-FFF2-40B4-BE49-F238E27FC236}">
                <a16:creationId xmlns:a16="http://schemas.microsoft.com/office/drawing/2014/main" id="{2D06E763-4898-1F40-ADA7-830F638FB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6997" y="3392979"/>
            <a:ext cx="3636143" cy="1538944"/>
          </a:xfrm>
          <a:prstGeom prst="rect">
            <a:avLst/>
          </a:prstGeom>
        </p:spPr>
      </p:pic>
    </p:spTree>
    <p:extLst>
      <p:ext uri="{BB962C8B-B14F-4D97-AF65-F5344CB8AC3E}">
        <p14:creationId xmlns:p14="http://schemas.microsoft.com/office/powerpoint/2010/main" val="2371442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93BF4-32BA-C706-A64F-233D3D65602B}"/>
              </a:ext>
            </a:extLst>
          </p:cNvPr>
          <p:cNvSpPr>
            <a:spLocks noGrp="1"/>
          </p:cNvSpPr>
          <p:nvPr>
            <p:ph type="title"/>
          </p:nvPr>
        </p:nvSpPr>
        <p:spPr/>
        <p:txBody>
          <a:bodyPr>
            <a:normAutofit/>
          </a:bodyPr>
          <a:lstStyle/>
          <a:p>
            <a:r>
              <a:rPr lang="en-IN" sz="3200" dirty="0"/>
              <a:t>12.</a:t>
            </a:r>
            <a:r>
              <a:rPr lang="en-US" sz="3200" dirty="0"/>
              <a:t> Display order details with product names.</a:t>
            </a:r>
            <a:endParaRPr lang="en-IN" sz="3200" dirty="0"/>
          </a:p>
        </p:txBody>
      </p:sp>
      <p:sp>
        <p:nvSpPr>
          <p:cNvPr id="3" name="TextBox 2">
            <a:extLst>
              <a:ext uri="{FF2B5EF4-FFF2-40B4-BE49-F238E27FC236}">
                <a16:creationId xmlns:a16="http://schemas.microsoft.com/office/drawing/2014/main" id="{0776A0D2-70D6-9F71-828C-D56CA4038778}"/>
              </a:ext>
            </a:extLst>
          </p:cNvPr>
          <p:cNvSpPr txBox="1"/>
          <p:nvPr/>
        </p:nvSpPr>
        <p:spPr>
          <a:xfrm>
            <a:off x="1206230" y="2227634"/>
            <a:ext cx="7791855" cy="923330"/>
          </a:xfrm>
          <a:prstGeom prst="rect">
            <a:avLst/>
          </a:prstGeom>
          <a:noFill/>
        </p:spPr>
        <p:txBody>
          <a:bodyPr wrap="square" rtlCol="0">
            <a:spAutoFit/>
          </a:bodyPr>
          <a:lstStyle/>
          <a:p>
            <a:r>
              <a:rPr lang="en-IN" dirty="0"/>
              <a:t>SELECT </a:t>
            </a:r>
            <a:r>
              <a:rPr lang="en-IN" dirty="0" err="1"/>
              <a:t>OD.order_id,P.product_name,O.order_date</a:t>
            </a:r>
            <a:r>
              <a:rPr lang="en-IN" dirty="0"/>
              <a:t> FROM products P join </a:t>
            </a:r>
            <a:r>
              <a:rPr lang="en-IN" dirty="0" err="1"/>
              <a:t>Order_details</a:t>
            </a:r>
            <a:r>
              <a:rPr lang="en-IN" dirty="0"/>
              <a:t> OD on </a:t>
            </a:r>
            <a:r>
              <a:rPr lang="en-IN" dirty="0" err="1"/>
              <a:t>P.product_id</a:t>
            </a:r>
            <a:r>
              <a:rPr lang="en-IN" dirty="0"/>
              <a:t>=</a:t>
            </a:r>
            <a:r>
              <a:rPr lang="en-IN" dirty="0" err="1"/>
              <a:t>OD.product_id</a:t>
            </a:r>
            <a:r>
              <a:rPr lang="en-IN" dirty="0"/>
              <a:t> right join Orders O on </a:t>
            </a:r>
            <a:r>
              <a:rPr lang="en-IN" dirty="0" err="1"/>
              <a:t>O.order_id</a:t>
            </a:r>
            <a:r>
              <a:rPr lang="en-IN" dirty="0"/>
              <a:t>=</a:t>
            </a:r>
            <a:r>
              <a:rPr lang="en-IN" dirty="0" err="1"/>
              <a:t>OD.order_id</a:t>
            </a:r>
            <a:r>
              <a:rPr lang="en-IN" dirty="0"/>
              <a:t>;</a:t>
            </a:r>
          </a:p>
        </p:txBody>
      </p:sp>
      <p:pic>
        <p:nvPicPr>
          <p:cNvPr id="5" name="Picture 4">
            <a:extLst>
              <a:ext uri="{FF2B5EF4-FFF2-40B4-BE49-F238E27FC236}">
                <a16:creationId xmlns:a16="http://schemas.microsoft.com/office/drawing/2014/main" id="{66C606F9-A8B7-080C-39D9-45B3B248ED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2761" y="3074857"/>
            <a:ext cx="3372558" cy="3111934"/>
          </a:xfrm>
          <a:prstGeom prst="rect">
            <a:avLst/>
          </a:prstGeom>
        </p:spPr>
      </p:pic>
    </p:spTree>
    <p:extLst>
      <p:ext uri="{BB962C8B-B14F-4D97-AF65-F5344CB8AC3E}">
        <p14:creationId xmlns:p14="http://schemas.microsoft.com/office/powerpoint/2010/main" val="1779529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D682-3B78-5B37-B520-7EA5B922DB3C}"/>
              </a:ext>
            </a:extLst>
          </p:cNvPr>
          <p:cNvSpPr>
            <a:spLocks noGrp="1"/>
          </p:cNvSpPr>
          <p:nvPr>
            <p:ph type="title"/>
          </p:nvPr>
        </p:nvSpPr>
        <p:spPr/>
        <p:txBody>
          <a:bodyPr>
            <a:normAutofit/>
          </a:bodyPr>
          <a:lstStyle/>
          <a:p>
            <a:r>
              <a:rPr lang="en-IN" sz="3200" dirty="0"/>
              <a:t>13.</a:t>
            </a:r>
            <a:r>
              <a:rPr lang="en-US" sz="3200" dirty="0"/>
              <a:t> Show customer names and products they purchased.</a:t>
            </a:r>
            <a:endParaRPr lang="en-IN" sz="3200" dirty="0"/>
          </a:p>
        </p:txBody>
      </p:sp>
      <p:sp>
        <p:nvSpPr>
          <p:cNvPr id="3" name="TextBox 2">
            <a:extLst>
              <a:ext uri="{FF2B5EF4-FFF2-40B4-BE49-F238E27FC236}">
                <a16:creationId xmlns:a16="http://schemas.microsoft.com/office/drawing/2014/main" id="{47EFB4DC-7F4E-251E-D443-05E66149FF75}"/>
              </a:ext>
            </a:extLst>
          </p:cNvPr>
          <p:cNvSpPr txBox="1"/>
          <p:nvPr/>
        </p:nvSpPr>
        <p:spPr>
          <a:xfrm>
            <a:off x="1097280" y="2023353"/>
            <a:ext cx="7782127" cy="923330"/>
          </a:xfrm>
          <a:prstGeom prst="rect">
            <a:avLst/>
          </a:prstGeom>
          <a:noFill/>
        </p:spPr>
        <p:txBody>
          <a:bodyPr wrap="square" rtlCol="0">
            <a:spAutoFit/>
          </a:bodyPr>
          <a:lstStyle/>
          <a:p>
            <a:r>
              <a:rPr lang="en-IN" dirty="0"/>
              <a:t>SELECT </a:t>
            </a:r>
            <a:r>
              <a:rPr lang="en-IN" dirty="0" err="1"/>
              <a:t>C.customer_name,P.product_name</a:t>
            </a:r>
            <a:r>
              <a:rPr lang="en-IN" dirty="0"/>
              <a:t> from Customers C join Orders O ON </a:t>
            </a:r>
            <a:r>
              <a:rPr lang="en-IN" dirty="0" err="1"/>
              <a:t>C.customer_id</a:t>
            </a:r>
            <a:r>
              <a:rPr lang="en-IN" dirty="0"/>
              <a:t>=</a:t>
            </a:r>
            <a:r>
              <a:rPr lang="en-IN" dirty="0" err="1"/>
              <a:t>O.customer_id</a:t>
            </a:r>
            <a:r>
              <a:rPr lang="en-IN" dirty="0"/>
              <a:t> join </a:t>
            </a:r>
            <a:r>
              <a:rPr lang="en-IN" dirty="0" err="1"/>
              <a:t>order_details</a:t>
            </a:r>
            <a:r>
              <a:rPr lang="en-IN" dirty="0"/>
              <a:t> OD ON </a:t>
            </a:r>
            <a:r>
              <a:rPr lang="en-IN" dirty="0" err="1"/>
              <a:t>O.order_id</a:t>
            </a:r>
            <a:r>
              <a:rPr lang="en-IN" dirty="0"/>
              <a:t>=</a:t>
            </a:r>
            <a:r>
              <a:rPr lang="en-IN" dirty="0" err="1"/>
              <a:t>OD.order_id</a:t>
            </a:r>
            <a:r>
              <a:rPr lang="en-IN" dirty="0"/>
              <a:t>  join Products P on </a:t>
            </a:r>
            <a:r>
              <a:rPr lang="en-IN" dirty="0" err="1"/>
              <a:t>P.product_id</a:t>
            </a:r>
            <a:r>
              <a:rPr lang="en-IN" dirty="0"/>
              <a:t>=</a:t>
            </a:r>
            <a:r>
              <a:rPr lang="en-IN" dirty="0" err="1"/>
              <a:t>OD.product_id</a:t>
            </a:r>
            <a:r>
              <a:rPr lang="en-IN" dirty="0"/>
              <a:t>;</a:t>
            </a:r>
          </a:p>
        </p:txBody>
      </p:sp>
      <p:pic>
        <p:nvPicPr>
          <p:cNvPr id="5" name="Picture 4">
            <a:extLst>
              <a:ext uri="{FF2B5EF4-FFF2-40B4-BE49-F238E27FC236}">
                <a16:creationId xmlns:a16="http://schemas.microsoft.com/office/drawing/2014/main" id="{A4C36B04-E434-19B9-AA55-A4ABE19CB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3906" y="3041915"/>
            <a:ext cx="3336588" cy="3144876"/>
          </a:xfrm>
          <a:prstGeom prst="rect">
            <a:avLst/>
          </a:prstGeom>
        </p:spPr>
      </p:pic>
    </p:spTree>
    <p:extLst>
      <p:ext uri="{BB962C8B-B14F-4D97-AF65-F5344CB8AC3E}">
        <p14:creationId xmlns:p14="http://schemas.microsoft.com/office/powerpoint/2010/main" val="3909770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81699-85F0-A2E7-850C-5579FD432C55}"/>
              </a:ext>
            </a:extLst>
          </p:cNvPr>
          <p:cNvSpPr>
            <a:spLocks noGrp="1"/>
          </p:cNvSpPr>
          <p:nvPr>
            <p:ph type="title"/>
          </p:nvPr>
        </p:nvSpPr>
        <p:spPr/>
        <p:txBody>
          <a:bodyPr>
            <a:normAutofit/>
          </a:bodyPr>
          <a:lstStyle/>
          <a:p>
            <a:r>
              <a:rPr lang="en-US" sz="3200" dirty="0"/>
              <a:t>14.Find products priced above the average price.</a:t>
            </a:r>
            <a:endParaRPr lang="en-IN" sz="3200" dirty="0"/>
          </a:p>
        </p:txBody>
      </p:sp>
      <p:sp>
        <p:nvSpPr>
          <p:cNvPr id="3" name="TextBox 2">
            <a:extLst>
              <a:ext uri="{FF2B5EF4-FFF2-40B4-BE49-F238E27FC236}">
                <a16:creationId xmlns:a16="http://schemas.microsoft.com/office/drawing/2014/main" id="{F6394C2E-9F6E-7886-CBB1-F8E1E8E923B6}"/>
              </a:ext>
            </a:extLst>
          </p:cNvPr>
          <p:cNvSpPr txBox="1"/>
          <p:nvPr/>
        </p:nvSpPr>
        <p:spPr>
          <a:xfrm>
            <a:off x="4182894" y="165370"/>
            <a:ext cx="3472774" cy="584775"/>
          </a:xfrm>
          <a:prstGeom prst="rect">
            <a:avLst/>
          </a:prstGeom>
          <a:noFill/>
        </p:spPr>
        <p:txBody>
          <a:bodyPr wrap="square" rtlCol="0">
            <a:spAutoFit/>
          </a:bodyPr>
          <a:lstStyle/>
          <a:p>
            <a:r>
              <a:rPr lang="en-IN" sz="3200" dirty="0" err="1">
                <a:solidFill>
                  <a:schemeClr val="accent4"/>
                </a:solidFill>
                <a:latin typeface="+mj-lt"/>
              </a:rPr>
              <a:t>SUB</a:t>
            </a:r>
            <a:r>
              <a:rPr lang="en-IN" sz="3200" dirty="0" err="1">
                <a:latin typeface="+mj-lt"/>
              </a:rPr>
              <a:t>Que</a:t>
            </a:r>
            <a:r>
              <a:rPr lang="en-IN" sz="3200" dirty="0" err="1">
                <a:solidFill>
                  <a:schemeClr val="accent4"/>
                </a:solidFill>
                <a:latin typeface="+mj-lt"/>
              </a:rPr>
              <a:t>ri</a:t>
            </a:r>
            <a:r>
              <a:rPr lang="en-IN" sz="3200" dirty="0" err="1">
                <a:latin typeface="+mj-lt"/>
              </a:rPr>
              <a:t>es</a:t>
            </a:r>
            <a:endParaRPr lang="en-IN" dirty="0">
              <a:latin typeface="+mj-lt"/>
            </a:endParaRPr>
          </a:p>
        </p:txBody>
      </p:sp>
      <p:sp>
        <p:nvSpPr>
          <p:cNvPr id="4" name="TextBox 3">
            <a:extLst>
              <a:ext uri="{FF2B5EF4-FFF2-40B4-BE49-F238E27FC236}">
                <a16:creationId xmlns:a16="http://schemas.microsoft.com/office/drawing/2014/main" id="{ECBE90CB-E5FA-DA2C-B339-0DBEF1F22F3D}"/>
              </a:ext>
            </a:extLst>
          </p:cNvPr>
          <p:cNvSpPr txBox="1"/>
          <p:nvPr/>
        </p:nvSpPr>
        <p:spPr>
          <a:xfrm>
            <a:off x="1254868" y="2256817"/>
            <a:ext cx="9445558" cy="923330"/>
          </a:xfrm>
          <a:prstGeom prst="rect">
            <a:avLst/>
          </a:prstGeom>
          <a:noFill/>
        </p:spPr>
        <p:txBody>
          <a:bodyPr wrap="square" rtlCol="0">
            <a:spAutoFit/>
          </a:bodyPr>
          <a:lstStyle/>
          <a:p>
            <a:r>
              <a:rPr lang="en-US" dirty="0"/>
              <a:t>SELECT </a:t>
            </a:r>
            <a:r>
              <a:rPr lang="en-US" dirty="0" err="1"/>
              <a:t>product_id</a:t>
            </a:r>
            <a:r>
              <a:rPr lang="en-US" dirty="0"/>
              <a:t>, </a:t>
            </a:r>
            <a:r>
              <a:rPr lang="en-US" dirty="0" err="1"/>
              <a:t>product_name</a:t>
            </a:r>
            <a:r>
              <a:rPr lang="en-US" dirty="0"/>
              <a:t> from products where price&gt;(select avg(price) from products);</a:t>
            </a:r>
          </a:p>
          <a:p>
            <a:endParaRPr lang="en-US" dirty="0"/>
          </a:p>
          <a:p>
            <a:endParaRPr lang="en-IN" dirty="0"/>
          </a:p>
        </p:txBody>
      </p:sp>
      <p:pic>
        <p:nvPicPr>
          <p:cNvPr id="8" name="Picture 7">
            <a:extLst>
              <a:ext uri="{FF2B5EF4-FFF2-40B4-BE49-F238E27FC236}">
                <a16:creationId xmlns:a16="http://schemas.microsoft.com/office/drawing/2014/main" id="{E92AD0DA-1B58-6744-AD16-F43D30256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643" y="3024131"/>
            <a:ext cx="3326859" cy="1294950"/>
          </a:xfrm>
          <a:prstGeom prst="rect">
            <a:avLst/>
          </a:prstGeom>
        </p:spPr>
      </p:pic>
    </p:spTree>
    <p:extLst>
      <p:ext uri="{BB962C8B-B14F-4D97-AF65-F5344CB8AC3E}">
        <p14:creationId xmlns:p14="http://schemas.microsoft.com/office/powerpoint/2010/main" val="3382559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D5BA-BD40-89CB-603E-4AF0D4C0798F}"/>
              </a:ext>
            </a:extLst>
          </p:cNvPr>
          <p:cNvSpPr>
            <a:spLocks noGrp="1"/>
          </p:cNvSpPr>
          <p:nvPr>
            <p:ph type="title"/>
          </p:nvPr>
        </p:nvSpPr>
        <p:spPr/>
        <p:txBody>
          <a:bodyPr>
            <a:normAutofit/>
          </a:bodyPr>
          <a:lstStyle/>
          <a:p>
            <a:r>
              <a:rPr lang="en-IN" sz="3200" dirty="0"/>
              <a:t>15.Find customers who purchased the most expensive product.</a:t>
            </a:r>
          </a:p>
        </p:txBody>
      </p:sp>
      <p:sp>
        <p:nvSpPr>
          <p:cNvPr id="3" name="TextBox 2">
            <a:extLst>
              <a:ext uri="{FF2B5EF4-FFF2-40B4-BE49-F238E27FC236}">
                <a16:creationId xmlns:a16="http://schemas.microsoft.com/office/drawing/2014/main" id="{DE1FD65D-D7E8-2D88-2D08-BA6730B972F9}"/>
              </a:ext>
            </a:extLst>
          </p:cNvPr>
          <p:cNvSpPr txBox="1"/>
          <p:nvPr/>
        </p:nvSpPr>
        <p:spPr>
          <a:xfrm>
            <a:off x="1206230" y="2208179"/>
            <a:ext cx="8891081" cy="1200329"/>
          </a:xfrm>
          <a:prstGeom prst="rect">
            <a:avLst/>
          </a:prstGeom>
          <a:noFill/>
        </p:spPr>
        <p:txBody>
          <a:bodyPr wrap="square" rtlCol="0">
            <a:spAutoFit/>
          </a:bodyPr>
          <a:lstStyle/>
          <a:p>
            <a:r>
              <a:rPr lang="en-IN" dirty="0"/>
              <a:t>SELECT DISTINCT </a:t>
            </a:r>
            <a:r>
              <a:rPr lang="en-IN" dirty="0" err="1"/>
              <a:t>c.customer_name</a:t>
            </a:r>
            <a:r>
              <a:rPr lang="en-IN" dirty="0"/>
              <a:t>, </a:t>
            </a:r>
            <a:r>
              <a:rPr lang="en-IN" dirty="0" err="1"/>
              <a:t>p.product_name</a:t>
            </a:r>
            <a:r>
              <a:rPr lang="en-IN" dirty="0"/>
              <a:t> FROM Customers c JOIN Orders o ON </a:t>
            </a:r>
            <a:r>
              <a:rPr lang="en-IN" dirty="0" err="1"/>
              <a:t>c.customer_id</a:t>
            </a:r>
            <a:r>
              <a:rPr lang="en-IN" dirty="0"/>
              <a:t> = </a:t>
            </a:r>
            <a:r>
              <a:rPr lang="en-IN" dirty="0" err="1"/>
              <a:t>o.customer_id</a:t>
            </a:r>
            <a:r>
              <a:rPr lang="en-IN" dirty="0"/>
              <a:t> JOIN </a:t>
            </a:r>
            <a:r>
              <a:rPr lang="en-IN" dirty="0" err="1"/>
              <a:t>Order_Details</a:t>
            </a:r>
            <a:r>
              <a:rPr lang="en-IN" dirty="0"/>
              <a:t> od ON </a:t>
            </a:r>
            <a:r>
              <a:rPr lang="en-IN" dirty="0" err="1"/>
              <a:t>o.order_id</a:t>
            </a:r>
            <a:r>
              <a:rPr lang="en-IN" dirty="0"/>
              <a:t> = </a:t>
            </a:r>
            <a:r>
              <a:rPr lang="en-IN" dirty="0" err="1"/>
              <a:t>od.order_id</a:t>
            </a:r>
            <a:r>
              <a:rPr lang="en-IN" dirty="0"/>
              <a:t> JOIN Products p ON </a:t>
            </a:r>
            <a:r>
              <a:rPr lang="en-IN" dirty="0" err="1"/>
              <a:t>od.product_id</a:t>
            </a:r>
            <a:r>
              <a:rPr lang="en-IN" dirty="0"/>
              <a:t> = </a:t>
            </a:r>
            <a:r>
              <a:rPr lang="en-IN" dirty="0" err="1"/>
              <a:t>p.product_id</a:t>
            </a:r>
            <a:r>
              <a:rPr lang="en-IN" dirty="0"/>
              <a:t> WHERE </a:t>
            </a:r>
            <a:r>
              <a:rPr lang="en-IN" dirty="0" err="1"/>
              <a:t>od.product_id</a:t>
            </a:r>
            <a:r>
              <a:rPr lang="en-IN" dirty="0"/>
              <a:t> =</a:t>
            </a:r>
          </a:p>
          <a:p>
            <a:r>
              <a:rPr lang="en-IN" dirty="0"/>
              <a:t>(SELECT </a:t>
            </a:r>
            <a:r>
              <a:rPr lang="en-IN" dirty="0" err="1"/>
              <a:t>product_id</a:t>
            </a:r>
            <a:r>
              <a:rPr lang="en-IN" dirty="0"/>
              <a:t> FROM Products WHERE price = (SELECT MAX(price) FROM Products));</a:t>
            </a:r>
          </a:p>
        </p:txBody>
      </p:sp>
      <p:pic>
        <p:nvPicPr>
          <p:cNvPr id="11" name="Picture 10">
            <a:extLst>
              <a:ext uri="{FF2B5EF4-FFF2-40B4-BE49-F238E27FC236}">
                <a16:creationId xmlns:a16="http://schemas.microsoft.com/office/drawing/2014/main" id="{77CA98F7-1108-B1AE-B51E-67D826F9D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5421" y="4383344"/>
            <a:ext cx="4241260" cy="1200329"/>
          </a:xfrm>
          <a:prstGeom prst="rect">
            <a:avLst/>
          </a:prstGeom>
        </p:spPr>
      </p:pic>
    </p:spTree>
    <p:extLst>
      <p:ext uri="{BB962C8B-B14F-4D97-AF65-F5344CB8AC3E}">
        <p14:creationId xmlns:p14="http://schemas.microsoft.com/office/powerpoint/2010/main" val="4276199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9CC51-56C3-7B68-971A-63FB5E91D85B}"/>
              </a:ext>
            </a:extLst>
          </p:cNvPr>
          <p:cNvSpPr>
            <a:spLocks noGrp="1"/>
          </p:cNvSpPr>
          <p:nvPr>
            <p:ph type="title"/>
          </p:nvPr>
        </p:nvSpPr>
        <p:spPr/>
        <p:txBody>
          <a:bodyPr>
            <a:normAutofit/>
          </a:bodyPr>
          <a:lstStyle/>
          <a:p>
            <a:r>
              <a:rPr lang="en-IN" sz="3200" dirty="0"/>
              <a:t>E-Commerce Sales Analysis – Key Findings &amp; Conclusion</a:t>
            </a:r>
          </a:p>
        </p:txBody>
      </p:sp>
      <p:graphicFrame>
        <p:nvGraphicFramePr>
          <p:cNvPr id="9" name="Table 8">
            <a:extLst>
              <a:ext uri="{FF2B5EF4-FFF2-40B4-BE49-F238E27FC236}">
                <a16:creationId xmlns:a16="http://schemas.microsoft.com/office/drawing/2014/main" id="{06B26772-DDE1-F8AD-2131-B3D191E147E1}"/>
              </a:ext>
            </a:extLst>
          </p:cNvPr>
          <p:cNvGraphicFramePr>
            <a:graphicFrameLocks noGrp="1"/>
          </p:cNvGraphicFramePr>
          <p:nvPr>
            <p:extLst>
              <p:ext uri="{D42A27DB-BD31-4B8C-83A1-F6EECF244321}">
                <p14:modId xmlns:p14="http://schemas.microsoft.com/office/powerpoint/2010/main" val="3802600168"/>
              </p:ext>
            </p:extLst>
          </p:nvPr>
        </p:nvGraphicFramePr>
        <p:xfrm>
          <a:off x="1731523" y="3751493"/>
          <a:ext cx="10058400" cy="1463040"/>
        </p:xfrm>
        <a:graphic>
          <a:graphicData uri="http://schemas.openxmlformats.org/drawingml/2006/table">
            <a:tbl>
              <a:tblPr/>
              <a:tblGrid>
                <a:gridCol w="5029200">
                  <a:extLst>
                    <a:ext uri="{9D8B030D-6E8A-4147-A177-3AD203B41FA5}">
                      <a16:colId xmlns:a16="http://schemas.microsoft.com/office/drawing/2014/main" val="2449298956"/>
                    </a:ext>
                  </a:extLst>
                </a:gridCol>
                <a:gridCol w="5029200">
                  <a:extLst>
                    <a:ext uri="{9D8B030D-6E8A-4147-A177-3AD203B41FA5}">
                      <a16:colId xmlns:a16="http://schemas.microsoft.com/office/drawing/2014/main" val="3999402131"/>
                    </a:ext>
                  </a:extLst>
                </a:gridCol>
              </a:tblGrid>
              <a:tr h="0">
                <a:tc>
                  <a:txBody>
                    <a:bodyPr/>
                    <a:lstStyle/>
                    <a:p>
                      <a:pPr>
                        <a:buNone/>
                      </a:pPr>
                      <a:r>
                        <a:rPr lang="en-IN"/>
                        <a:t>Customer</a:t>
                      </a:r>
                    </a:p>
                  </a:txBody>
                  <a:tcPr anchor="ctr">
                    <a:lnL>
                      <a:noFill/>
                    </a:lnL>
                    <a:lnR>
                      <a:noFill/>
                    </a:lnR>
                    <a:lnT>
                      <a:noFill/>
                    </a:lnT>
                    <a:lnB>
                      <a:noFill/>
                    </a:lnB>
                    <a:noFill/>
                  </a:tcPr>
                </a:tc>
                <a:tc>
                  <a:txBody>
                    <a:bodyPr/>
                    <a:lstStyle/>
                    <a:p>
                      <a:pPr>
                        <a:buNone/>
                      </a:pPr>
                      <a:r>
                        <a:rPr lang="en-IN"/>
                        <a:t>Amount Spent</a:t>
                      </a:r>
                    </a:p>
                  </a:txBody>
                  <a:tcPr anchor="ctr">
                    <a:lnL>
                      <a:noFill/>
                    </a:lnL>
                    <a:lnR>
                      <a:noFill/>
                    </a:lnR>
                    <a:lnT>
                      <a:noFill/>
                    </a:lnT>
                    <a:lnB>
                      <a:noFill/>
                    </a:lnB>
                    <a:noFill/>
                  </a:tcPr>
                </a:tc>
                <a:extLst>
                  <a:ext uri="{0D108BD9-81ED-4DB2-BD59-A6C34878D82A}">
                    <a16:rowId xmlns:a16="http://schemas.microsoft.com/office/drawing/2014/main" val="3404854395"/>
                  </a:ext>
                </a:extLst>
              </a:tr>
              <a:tr h="0">
                <a:tc>
                  <a:txBody>
                    <a:bodyPr/>
                    <a:lstStyle/>
                    <a:p>
                      <a:pPr>
                        <a:buNone/>
                      </a:pPr>
                      <a:r>
                        <a:rPr lang="en-IN" dirty="0"/>
                        <a:t>Rahul</a:t>
                      </a:r>
                    </a:p>
                  </a:txBody>
                  <a:tcPr anchor="ctr">
                    <a:lnL>
                      <a:noFill/>
                    </a:lnL>
                    <a:lnR>
                      <a:noFill/>
                    </a:lnR>
                    <a:lnT>
                      <a:noFill/>
                    </a:lnT>
                    <a:lnB>
                      <a:noFill/>
                    </a:lnB>
                    <a:noFill/>
                  </a:tcPr>
                </a:tc>
                <a:tc>
                  <a:txBody>
                    <a:bodyPr/>
                    <a:lstStyle/>
                    <a:p>
                      <a:pPr>
                        <a:buNone/>
                      </a:pPr>
                      <a:r>
                        <a:rPr lang="en-IN"/>
                        <a:t>₹76,000</a:t>
                      </a:r>
                    </a:p>
                  </a:txBody>
                  <a:tcPr anchor="ctr">
                    <a:lnL>
                      <a:noFill/>
                    </a:lnL>
                    <a:lnR>
                      <a:noFill/>
                    </a:lnR>
                    <a:lnT>
                      <a:noFill/>
                    </a:lnT>
                    <a:lnB>
                      <a:noFill/>
                    </a:lnB>
                    <a:noFill/>
                  </a:tcPr>
                </a:tc>
                <a:extLst>
                  <a:ext uri="{0D108BD9-81ED-4DB2-BD59-A6C34878D82A}">
                    <a16:rowId xmlns:a16="http://schemas.microsoft.com/office/drawing/2014/main" val="1056652827"/>
                  </a:ext>
                </a:extLst>
              </a:tr>
              <a:tr h="0">
                <a:tc>
                  <a:txBody>
                    <a:bodyPr/>
                    <a:lstStyle/>
                    <a:p>
                      <a:pPr>
                        <a:buNone/>
                      </a:pPr>
                      <a:r>
                        <a:rPr lang="en-IN" dirty="0"/>
                        <a:t>Sneha</a:t>
                      </a:r>
                    </a:p>
                  </a:txBody>
                  <a:tcPr anchor="ctr">
                    <a:lnL>
                      <a:noFill/>
                    </a:lnL>
                    <a:lnR>
                      <a:noFill/>
                    </a:lnR>
                    <a:lnT>
                      <a:noFill/>
                    </a:lnT>
                    <a:lnB>
                      <a:noFill/>
                    </a:lnB>
                    <a:noFill/>
                  </a:tcPr>
                </a:tc>
                <a:tc>
                  <a:txBody>
                    <a:bodyPr/>
                    <a:lstStyle/>
                    <a:p>
                      <a:pPr>
                        <a:buNone/>
                      </a:pPr>
                      <a:r>
                        <a:rPr lang="en-IN"/>
                        <a:t>₹60,000</a:t>
                      </a:r>
                    </a:p>
                  </a:txBody>
                  <a:tcPr anchor="ctr">
                    <a:lnL>
                      <a:noFill/>
                    </a:lnL>
                    <a:lnR>
                      <a:noFill/>
                    </a:lnR>
                    <a:lnT>
                      <a:noFill/>
                    </a:lnT>
                    <a:lnB>
                      <a:noFill/>
                    </a:lnB>
                    <a:noFill/>
                  </a:tcPr>
                </a:tc>
                <a:extLst>
                  <a:ext uri="{0D108BD9-81ED-4DB2-BD59-A6C34878D82A}">
                    <a16:rowId xmlns:a16="http://schemas.microsoft.com/office/drawing/2014/main" val="716671603"/>
                  </a:ext>
                </a:extLst>
              </a:tr>
              <a:tr h="0">
                <a:tc>
                  <a:txBody>
                    <a:bodyPr/>
                    <a:lstStyle/>
                    <a:p>
                      <a:pPr>
                        <a:buNone/>
                      </a:pPr>
                      <a:r>
                        <a:rPr lang="en-IN" dirty="0"/>
                        <a:t>Arjun</a:t>
                      </a:r>
                    </a:p>
                  </a:txBody>
                  <a:tcPr anchor="ctr">
                    <a:lnL>
                      <a:noFill/>
                    </a:lnL>
                    <a:lnR>
                      <a:noFill/>
                    </a:lnR>
                    <a:lnT>
                      <a:noFill/>
                    </a:lnT>
                    <a:lnB>
                      <a:noFill/>
                    </a:lnB>
                    <a:noFill/>
                  </a:tcPr>
                </a:tc>
                <a:tc>
                  <a:txBody>
                    <a:bodyPr/>
                    <a:lstStyle/>
                    <a:p>
                      <a:pPr>
                        <a:buNone/>
                      </a:pPr>
                      <a:r>
                        <a:rPr lang="en-IN" dirty="0"/>
                        <a:t>₹52,000</a:t>
                      </a:r>
                    </a:p>
                  </a:txBody>
                  <a:tcPr anchor="ctr">
                    <a:lnL>
                      <a:noFill/>
                    </a:lnL>
                    <a:lnR>
                      <a:noFill/>
                    </a:lnR>
                    <a:lnT>
                      <a:noFill/>
                    </a:lnT>
                    <a:lnB>
                      <a:noFill/>
                    </a:lnB>
                    <a:noFill/>
                  </a:tcPr>
                </a:tc>
                <a:extLst>
                  <a:ext uri="{0D108BD9-81ED-4DB2-BD59-A6C34878D82A}">
                    <a16:rowId xmlns:a16="http://schemas.microsoft.com/office/drawing/2014/main" val="1386770701"/>
                  </a:ext>
                </a:extLst>
              </a:tr>
            </a:tbl>
          </a:graphicData>
        </a:graphic>
      </p:graphicFrame>
      <p:sp>
        <p:nvSpPr>
          <p:cNvPr id="11" name="TextBox 10">
            <a:extLst>
              <a:ext uri="{FF2B5EF4-FFF2-40B4-BE49-F238E27FC236}">
                <a16:creationId xmlns:a16="http://schemas.microsoft.com/office/drawing/2014/main" id="{88E08C16-F1C2-6FDC-2556-647887768A54}"/>
              </a:ext>
            </a:extLst>
          </p:cNvPr>
          <p:cNvSpPr txBox="1"/>
          <p:nvPr/>
        </p:nvSpPr>
        <p:spPr>
          <a:xfrm>
            <a:off x="1097280" y="1964412"/>
            <a:ext cx="8820554" cy="1754326"/>
          </a:xfrm>
          <a:prstGeom prst="rect">
            <a:avLst/>
          </a:prstGeom>
          <a:noFill/>
        </p:spPr>
        <p:txBody>
          <a:bodyPr wrap="square">
            <a:spAutoFit/>
          </a:bodyPr>
          <a:lstStyle/>
          <a:p>
            <a:pPr>
              <a:buNone/>
            </a:pPr>
            <a:r>
              <a:rPr lang="en-IN" b="1" dirty="0">
                <a:latin typeface="+mj-lt"/>
              </a:rPr>
              <a:t>1. Total Revenue Generated</a:t>
            </a:r>
          </a:p>
          <a:p>
            <a:pPr>
              <a:buFont typeface="Arial" panose="020B0604020202020204" pitchFamily="34" charset="0"/>
              <a:buChar char="•"/>
            </a:pPr>
            <a:r>
              <a:rPr lang="en-IN" dirty="0">
                <a:latin typeface="+mj-lt"/>
              </a:rPr>
              <a:t>Total Revenue: </a:t>
            </a:r>
            <a:r>
              <a:rPr lang="en-IN" b="1" dirty="0">
                <a:latin typeface="+mj-lt"/>
              </a:rPr>
              <a:t>₹2,73,500</a:t>
            </a:r>
            <a:r>
              <a:rPr lang="en-IN" dirty="0">
                <a:latin typeface="+mj-lt"/>
              </a:rPr>
              <a:t> </a:t>
            </a:r>
          </a:p>
          <a:p>
            <a:pPr>
              <a:buFont typeface="Arial" panose="020B0604020202020204" pitchFamily="34" charset="0"/>
              <a:buChar char="•"/>
            </a:pPr>
            <a:r>
              <a:rPr lang="en-IN" dirty="0">
                <a:latin typeface="+mj-lt"/>
              </a:rPr>
              <a:t>The business generated significant revenue from product sales across multiple categories. </a:t>
            </a:r>
          </a:p>
          <a:p>
            <a:pPr>
              <a:buFont typeface="Arial" panose="020B0604020202020204" pitchFamily="34" charset="0"/>
              <a:buChar char="•"/>
            </a:pPr>
            <a:endParaRPr lang="en-IN" dirty="0">
              <a:latin typeface="+mj-lt"/>
            </a:endParaRPr>
          </a:p>
          <a:p>
            <a:pPr>
              <a:buNone/>
            </a:pPr>
            <a:r>
              <a:rPr lang="en-IN" b="1" dirty="0">
                <a:latin typeface="+mj-lt"/>
              </a:rPr>
              <a:t>2. Top Spending Customers</a:t>
            </a:r>
          </a:p>
        </p:txBody>
      </p:sp>
      <p:sp>
        <p:nvSpPr>
          <p:cNvPr id="12" name="TextBox 11">
            <a:extLst>
              <a:ext uri="{FF2B5EF4-FFF2-40B4-BE49-F238E27FC236}">
                <a16:creationId xmlns:a16="http://schemas.microsoft.com/office/drawing/2014/main" id="{778D99AB-6DD0-778F-357C-07D7653EE321}"/>
              </a:ext>
            </a:extLst>
          </p:cNvPr>
          <p:cNvSpPr txBox="1"/>
          <p:nvPr/>
        </p:nvSpPr>
        <p:spPr>
          <a:xfrm>
            <a:off x="1177047" y="5301574"/>
            <a:ext cx="9338553" cy="923330"/>
          </a:xfrm>
          <a:prstGeom prst="rect">
            <a:avLst/>
          </a:prstGeom>
          <a:noFill/>
        </p:spPr>
        <p:txBody>
          <a:bodyPr wrap="square" rtlCol="0">
            <a:spAutoFit/>
          </a:bodyPr>
          <a:lstStyle/>
          <a:p>
            <a:r>
              <a:rPr lang="en-IN" b="1" dirty="0">
                <a:latin typeface="+mj-lt"/>
              </a:rPr>
              <a:t>Insight:</a:t>
            </a:r>
            <a:r>
              <a:rPr lang="en-IN" dirty="0">
                <a:latin typeface="+mj-lt"/>
              </a:rPr>
              <a:t> These customers contribute the highest share of revenue and should be targeted for loyalty programs.</a:t>
            </a:r>
          </a:p>
          <a:p>
            <a:endParaRPr lang="en-IN" dirty="0">
              <a:latin typeface="+mj-lt"/>
            </a:endParaRPr>
          </a:p>
        </p:txBody>
      </p:sp>
    </p:spTree>
    <p:extLst>
      <p:ext uri="{BB962C8B-B14F-4D97-AF65-F5344CB8AC3E}">
        <p14:creationId xmlns:p14="http://schemas.microsoft.com/office/powerpoint/2010/main" val="2687602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5BEFB9D-4A90-C233-C6B3-EFC9033D40F3}"/>
              </a:ext>
            </a:extLst>
          </p:cNvPr>
          <p:cNvGraphicFramePr>
            <a:graphicFrameLocks noGrp="1"/>
          </p:cNvGraphicFramePr>
          <p:nvPr>
            <p:extLst>
              <p:ext uri="{D42A27DB-BD31-4B8C-83A1-F6EECF244321}">
                <p14:modId xmlns:p14="http://schemas.microsoft.com/office/powerpoint/2010/main" val="3264095675"/>
              </p:ext>
            </p:extLst>
          </p:nvPr>
        </p:nvGraphicFramePr>
        <p:xfrm>
          <a:off x="1352145" y="828376"/>
          <a:ext cx="10058400" cy="1463040"/>
        </p:xfrm>
        <a:graphic>
          <a:graphicData uri="http://schemas.openxmlformats.org/drawingml/2006/table">
            <a:tbl>
              <a:tblPr/>
              <a:tblGrid>
                <a:gridCol w="5029200">
                  <a:extLst>
                    <a:ext uri="{9D8B030D-6E8A-4147-A177-3AD203B41FA5}">
                      <a16:colId xmlns:a16="http://schemas.microsoft.com/office/drawing/2014/main" val="1760550722"/>
                    </a:ext>
                  </a:extLst>
                </a:gridCol>
                <a:gridCol w="5029200">
                  <a:extLst>
                    <a:ext uri="{9D8B030D-6E8A-4147-A177-3AD203B41FA5}">
                      <a16:colId xmlns:a16="http://schemas.microsoft.com/office/drawing/2014/main" val="867860900"/>
                    </a:ext>
                  </a:extLst>
                </a:gridCol>
              </a:tblGrid>
              <a:tr h="0">
                <a:tc>
                  <a:txBody>
                    <a:bodyPr/>
                    <a:lstStyle/>
                    <a:p>
                      <a:pPr>
                        <a:buNone/>
                      </a:pPr>
                      <a:r>
                        <a:rPr lang="en-IN" b="1" dirty="0"/>
                        <a:t>Product</a:t>
                      </a:r>
                    </a:p>
                  </a:txBody>
                  <a:tcPr anchor="ctr">
                    <a:lnL>
                      <a:noFill/>
                    </a:lnL>
                    <a:lnR>
                      <a:noFill/>
                    </a:lnR>
                    <a:lnT>
                      <a:noFill/>
                    </a:lnT>
                    <a:lnB>
                      <a:noFill/>
                    </a:lnB>
                    <a:noFill/>
                  </a:tcPr>
                </a:tc>
                <a:tc>
                  <a:txBody>
                    <a:bodyPr/>
                    <a:lstStyle/>
                    <a:p>
                      <a:pPr>
                        <a:buNone/>
                      </a:pPr>
                      <a:r>
                        <a:rPr lang="en-IN" b="1" dirty="0"/>
                        <a:t>Units Sold</a:t>
                      </a:r>
                    </a:p>
                  </a:txBody>
                  <a:tcPr anchor="ctr">
                    <a:lnL>
                      <a:noFill/>
                    </a:lnL>
                    <a:lnR>
                      <a:noFill/>
                    </a:lnR>
                    <a:lnT>
                      <a:noFill/>
                    </a:lnT>
                    <a:lnB>
                      <a:noFill/>
                    </a:lnB>
                    <a:noFill/>
                  </a:tcPr>
                </a:tc>
                <a:extLst>
                  <a:ext uri="{0D108BD9-81ED-4DB2-BD59-A6C34878D82A}">
                    <a16:rowId xmlns:a16="http://schemas.microsoft.com/office/drawing/2014/main" val="2584555305"/>
                  </a:ext>
                </a:extLst>
              </a:tr>
              <a:tr h="0">
                <a:tc>
                  <a:txBody>
                    <a:bodyPr/>
                    <a:lstStyle/>
                    <a:p>
                      <a:pPr>
                        <a:buNone/>
                      </a:pPr>
                      <a:r>
                        <a:rPr lang="en-IN"/>
                        <a:t>Mouse</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extLst>
                  <a:ext uri="{0D108BD9-81ED-4DB2-BD59-A6C34878D82A}">
                    <a16:rowId xmlns:a16="http://schemas.microsoft.com/office/drawing/2014/main" val="686468861"/>
                  </a:ext>
                </a:extLst>
              </a:tr>
              <a:tr h="0">
                <a:tc>
                  <a:txBody>
                    <a:bodyPr/>
                    <a:lstStyle/>
                    <a:p>
                      <a:pPr>
                        <a:buNone/>
                      </a:pPr>
                      <a:r>
                        <a:rPr lang="en-IN" dirty="0"/>
                        <a:t>Speaker</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extLst>
                  <a:ext uri="{0D108BD9-81ED-4DB2-BD59-A6C34878D82A}">
                    <a16:rowId xmlns:a16="http://schemas.microsoft.com/office/drawing/2014/main" val="3440735838"/>
                  </a:ext>
                </a:extLst>
              </a:tr>
              <a:tr h="0">
                <a:tc>
                  <a:txBody>
                    <a:bodyPr/>
                    <a:lstStyle/>
                    <a:p>
                      <a:pPr>
                        <a:buNone/>
                      </a:pPr>
                      <a:r>
                        <a:rPr lang="en-IN"/>
                        <a:t>Keyboard</a:t>
                      </a:r>
                    </a:p>
                  </a:txBody>
                  <a:tcPr anchor="ctr">
                    <a:lnL>
                      <a:noFill/>
                    </a:lnL>
                    <a:lnR>
                      <a:noFill/>
                    </a:lnR>
                    <a:lnT>
                      <a:noFill/>
                    </a:lnT>
                    <a:lnB>
                      <a:noFill/>
                    </a:lnB>
                    <a:noFill/>
                  </a:tcPr>
                </a:tc>
                <a:tc>
                  <a:txBody>
                    <a:bodyPr/>
                    <a:lstStyle/>
                    <a:p>
                      <a:pPr>
                        <a:buNone/>
                      </a:pPr>
                      <a:r>
                        <a:rPr lang="en-IN" dirty="0"/>
                        <a:t>4</a:t>
                      </a:r>
                    </a:p>
                  </a:txBody>
                  <a:tcPr anchor="ctr">
                    <a:lnL>
                      <a:noFill/>
                    </a:lnL>
                    <a:lnR>
                      <a:noFill/>
                    </a:lnR>
                    <a:lnT>
                      <a:noFill/>
                    </a:lnT>
                    <a:lnB>
                      <a:noFill/>
                    </a:lnB>
                    <a:noFill/>
                  </a:tcPr>
                </a:tc>
                <a:extLst>
                  <a:ext uri="{0D108BD9-81ED-4DB2-BD59-A6C34878D82A}">
                    <a16:rowId xmlns:a16="http://schemas.microsoft.com/office/drawing/2014/main" val="1929289995"/>
                  </a:ext>
                </a:extLst>
              </a:tr>
            </a:tbl>
          </a:graphicData>
        </a:graphic>
      </p:graphicFrame>
      <p:sp>
        <p:nvSpPr>
          <p:cNvPr id="6" name="TextBox 5">
            <a:extLst>
              <a:ext uri="{FF2B5EF4-FFF2-40B4-BE49-F238E27FC236}">
                <a16:creationId xmlns:a16="http://schemas.microsoft.com/office/drawing/2014/main" id="{F8EC0C4B-D9D2-90B2-4337-81621579009B}"/>
              </a:ext>
            </a:extLst>
          </p:cNvPr>
          <p:cNvSpPr txBox="1"/>
          <p:nvPr/>
        </p:nvSpPr>
        <p:spPr>
          <a:xfrm>
            <a:off x="1091930" y="459044"/>
            <a:ext cx="6094378" cy="369332"/>
          </a:xfrm>
          <a:prstGeom prst="rect">
            <a:avLst/>
          </a:prstGeom>
          <a:noFill/>
        </p:spPr>
        <p:txBody>
          <a:bodyPr wrap="square">
            <a:spAutoFit/>
          </a:bodyPr>
          <a:lstStyle/>
          <a:p>
            <a:pPr>
              <a:buNone/>
            </a:pPr>
            <a:r>
              <a:rPr lang="en-IN" b="1" dirty="0">
                <a:latin typeface="+mj-lt"/>
              </a:rPr>
              <a:t>3. Best-Selling Products (By Quantity)</a:t>
            </a:r>
          </a:p>
        </p:txBody>
      </p:sp>
      <p:sp>
        <p:nvSpPr>
          <p:cNvPr id="7" name="TextBox 6">
            <a:extLst>
              <a:ext uri="{FF2B5EF4-FFF2-40B4-BE49-F238E27FC236}">
                <a16:creationId xmlns:a16="http://schemas.microsoft.com/office/drawing/2014/main" id="{D5055DCB-60C9-BFBF-2A3E-CF101104D10B}"/>
              </a:ext>
            </a:extLst>
          </p:cNvPr>
          <p:cNvSpPr txBox="1"/>
          <p:nvPr/>
        </p:nvSpPr>
        <p:spPr>
          <a:xfrm>
            <a:off x="1352145" y="2291416"/>
            <a:ext cx="9338553" cy="646331"/>
          </a:xfrm>
          <a:prstGeom prst="rect">
            <a:avLst/>
          </a:prstGeom>
          <a:noFill/>
        </p:spPr>
        <p:txBody>
          <a:bodyPr wrap="square" rtlCol="0">
            <a:spAutoFit/>
          </a:bodyPr>
          <a:lstStyle/>
          <a:p>
            <a:pPr>
              <a:buNone/>
            </a:pPr>
            <a:r>
              <a:rPr lang="en-IN" b="1">
                <a:latin typeface="+mj-lt"/>
              </a:rPr>
              <a:t>Insight:</a:t>
            </a:r>
            <a:r>
              <a:rPr lang="en-IN">
                <a:latin typeface="+mj-lt"/>
              </a:rPr>
              <a:t> These products have strong customer demand and should be prioritized for inventory management.</a:t>
            </a:r>
            <a:endParaRPr lang="en-IN" dirty="0">
              <a:latin typeface="+mj-lt"/>
            </a:endParaRPr>
          </a:p>
        </p:txBody>
      </p:sp>
      <p:graphicFrame>
        <p:nvGraphicFramePr>
          <p:cNvPr id="9" name="Table 8">
            <a:extLst>
              <a:ext uri="{FF2B5EF4-FFF2-40B4-BE49-F238E27FC236}">
                <a16:creationId xmlns:a16="http://schemas.microsoft.com/office/drawing/2014/main" id="{A1EE4B2B-D833-4987-6C06-5022CC19AF65}"/>
              </a:ext>
            </a:extLst>
          </p:cNvPr>
          <p:cNvGraphicFramePr>
            <a:graphicFrameLocks noGrp="1"/>
          </p:cNvGraphicFramePr>
          <p:nvPr>
            <p:extLst>
              <p:ext uri="{D42A27DB-BD31-4B8C-83A1-F6EECF244321}">
                <p14:modId xmlns:p14="http://schemas.microsoft.com/office/powerpoint/2010/main" val="2242708224"/>
              </p:ext>
            </p:extLst>
          </p:nvPr>
        </p:nvGraphicFramePr>
        <p:xfrm>
          <a:off x="1352145" y="3469305"/>
          <a:ext cx="10058400" cy="1097280"/>
        </p:xfrm>
        <a:graphic>
          <a:graphicData uri="http://schemas.openxmlformats.org/drawingml/2006/table">
            <a:tbl>
              <a:tblPr/>
              <a:tblGrid>
                <a:gridCol w="10058400">
                  <a:extLst>
                    <a:ext uri="{9D8B030D-6E8A-4147-A177-3AD203B41FA5}">
                      <a16:colId xmlns:a16="http://schemas.microsoft.com/office/drawing/2014/main" val="2291442550"/>
                    </a:ext>
                  </a:extLst>
                </a:gridCol>
              </a:tblGrid>
              <a:tr h="0">
                <a:tc>
                  <a:txBody>
                    <a:bodyPr/>
                    <a:lstStyle/>
                    <a:p>
                      <a:pPr>
                        <a:buNone/>
                      </a:pPr>
                      <a:r>
                        <a:rPr lang="en-IN" b="1" dirty="0"/>
                        <a:t>Customer</a:t>
                      </a:r>
                    </a:p>
                  </a:txBody>
                  <a:tcPr anchor="ctr">
                    <a:lnL>
                      <a:noFill/>
                    </a:lnL>
                    <a:lnR>
                      <a:noFill/>
                    </a:lnR>
                    <a:lnT>
                      <a:noFill/>
                    </a:lnT>
                    <a:lnB>
                      <a:noFill/>
                    </a:lnB>
                    <a:noFill/>
                  </a:tcPr>
                </a:tc>
                <a:extLst>
                  <a:ext uri="{0D108BD9-81ED-4DB2-BD59-A6C34878D82A}">
                    <a16:rowId xmlns:a16="http://schemas.microsoft.com/office/drawing/2014/main" val="1717860890"/>
                  </a:ext>
                </a:extLst>
              </a:tr>
              <a:tr h="0">
                <a:tc>
                  <a:txBody>
                    <a:bodyPr/>
                    <a:lstStyle/>
                    <a:p>
                      <a:pPr>
                        <a:buNone/>
                      </a:pPr>
                      <a:r>
                        <a:rPr lang="en-IN" dirty="0"/>
                        <a:t>Rohan</a:t>
                      </a:r>
                    </a:p>
                  </a:txBody>
                  <a:tcPr anchor="ctr">
                    <a:lnL>
                      <a:noFill/>
                    </a:lnL>
                    <a:lnR>
                      <a:noFill/>
                    </a:lnR>
                    <a:lnT>
                      <a:noFill/>
                    </a:lnT>
                    <a:lnB>
                      <a:noFill/>
                    </a:lnB>
                    <a:noFill/>
                  </a:tcPr>
                </a:tc>
                <a:extLst>
                  <a:ext uri="{0D108BD9-81ED-4DB2-BD59-A6C34878D82A}">
                    <a16:rowId xmlns:a16="http://schemas.microsoft.com/office/drawing/2014/main" val="2578366051"/>
                  </a:ext>
                </a:extLst>
              </a:tr>
              <a:tr h="0">
                <a:tc>
                  <a:txBody>
                    <a:bodyPr/>
                    <a:lstStyle/>
                    <a:p>
                      <a:pPr>
                        <a:buNone/>
                      </a:pPr>
                      <a:r>
                        <a:rPr lang="en-IN" dirty="0"/>
                        <a:t>Neha</a:t>
                      </a:r>
                    </a:p>
                  </a:txBody>
                  <a:tcPr anchor="ctr">
                    <a:lnL>
                      <a:noFill/>
                    </a:lnL>
                    <a:lnR>
                      <a:noFill/>
                    </a:lnR>
                    <a:lnT>
                      <a:noFill/>
                    </a:lnT>
                    <a:lnB>
                      <a:noFill/>
                    </a:lnB>
                    <a:noFill/>
                  </a:tcPr>
                </a:tc>
                <a:extLst>
                  <a:ext uri="{0D108BD9-81ED-4DB2-BD59-A6C34878D82A}">
                    <a16:rowId xmlns:a16="http://schemas.microsoft.com/office/drawing/2014/main" val="2243166383"/>
                  </a:ext>
                </a:extLst>
              </a:tr>
            </a:tbl>
          </a:graphicData>
        </a:graphic>
      </p:graphicFrame>
      <p:sp>
        <p:nvSpPr>
          <p:cNvPr id="11" name="TextBox 10">
            <a:extLst>
              <a:ext uri="{FF2B5EF4-FFF2-40B4-BE49-F238E27FC236}">
                <a16:creationId xmlns:a16="http://schemas.microsoft.com/office/drawing/2014/main" id="{C72B806D-4CE8-7832-BE21-A01602A0E32A}"/>
              </a:ext>
            </a:extLst>
          </p:cNvPr>
          <p:cNvSpPr txBox="1"/>
          <p:nvPr/>
        </p:nvSpPr>
        <p:spPr>
          <a:xfrm>
            <a:off x="1091930" y="3041121"/>
            <a:ext cx="6094378" cy="369332"/>
          </a:xfrm>
          <a:prstGeom prst="rect">
            <a:avLst/>
          </a:prstGeom>
          <a:noFill/>
        </p:spPr>
        <p:txBody>
          <a:bodyPr wrap="square">
            <a:spAutoFit/>
          </a:bodyPr>
          <a:lstStyle/>
          <a:p>
            <a:pPr>
              <a:buNone/>
            </a:pPr>
            <a:r>
              <a:rPr lang="en-IN" b="1" dirty="0">
                <a:latin typeface="+mj-lt"/>
              </a:rPr>
              <a:t>4. Inactive Customers</a:t>
            </a:r>
          </a:p>
        </p:txBody>
      </p:sp>
      <p:sp>
        <p:nvSpPr>
          <p:cNvPr id="12" name="TextBox 11">
            <a:extLst>
              <a:ext uri="{FF2B5EF4-FFF2-40B4-BE49-F238E27FC236}">
                <a16:creationId xmlns:a16="http://schemas.microsoft.com/office/drawing/2014/main" id="{F4BAC19A-86BA-8F2D-F9EC-FB5F8F41BAD4}"/>
              </a:ext>
            </a:extLst>
          </p:cNvPr>
          <p:cNvSpPr txBox="1"/>
          <p:nvPr/>
        </p:nvSpPr>
        <p:spPr>
          <a:xfrm>
            <a:off x="1352145" y="4605981"/>
            <a:ext cx="9581744" cy="923330"/>
          </a:xfrm>
          <a:prstGeom prst="rect">
            <a:avLst/>
          </a:prstGeom>
          <a:noFill/>
        </p:spPr>
        <p:txBody>
          <a:bodyPr wrap="square" rtlCol="0">
            <a:spAutoFit/>
          </a:bodyPr>
          <a:lstStyle/>
          <a:p>
            <a:r>
              <a:rPr lang="en-IN" b="1" dirty="0">
                <a:latin typeface="+mj-lt"/>
              </a:rPr>
              <a:t>Insight:</a:t>
            </a:r>
            <a:r>
              <a:rPr lang="en-IN" dirty="0">
                <a:latin typeface="+mj-lt"/>
              </a:rPr>
              <a:t> These customers have not placed any orders and represent opportunities for targeted marketing campaigns.</a:t>
            </a:r>
          </a:p>
          <a:p>
            <a:endParaRPr lang="en-IN" dirty="0">
              <a:latin typeface="+mj-lt"/>
            </a:endParaRPr>
          </a:p>
        </p:txBody>
      </p:sp>
    </p:spTree>
    <p:extLst>
      <p:ext uri="{BB962C8B-B14F-4D97-AF65-F5344CB8AC3E}">
        <p14:creationId xmlns:p14="http://schemas.microsoft.com/office/powerpoint/2010/main" val="3485441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8640D4-7AC7-DB48-E4C8-66C25E47AB66}"/>
              </a:ext>
            </a:extLst>
          </p:cNvPr>
          <p:cNvGraphicFramePr>
            <a:graphicFrameLocks noGrp="1"/>
          </p:cNvGraphicFramePr>
          <p:nvPr>
            <p:extLst>
              <p:ext uri="{D42A27DB-BD31-4B8C-83A1-F6EECF244321}">
                <p14:modId xmlns:p14="http://schemas.microsoft.com/office/powerpoint/2010/main" val="3895536812"/>
              </p:ext>
            </p:extLst>
          </p:nvPr>
        </p:nvGraphicFramePr>
        <p:xfrm>
          <a:off x="1310971" y="899089"/>
          <a:ext cx="10058400" cy="731520"/>
        </p:xfrm>
        <a:graphic>
          <a:graphicData uri="http://schemas.openxmlformats.org/drawingml/2006/table">
            <a:tbl>
              <a:tblPr/>
              <a:tblGrid>
                <a:gridCol w="10058400">
                  <a:extLst>
                    <a:ext uri="{9D8B030D-6E8A-4147-A177-3AD203B41FA5}">
                      <a16:colId xmlns:a16="http://schemas.microsoft.com/office/drawing/2014/main" val="1166619313"/>
                    </a:ext>
                  </a:extLst>
                </a:gridCol>
              </a:tblGrid>
              <a:tr h="0">
                <a:tc>
                  <a:txBody>
                    <a:bodyPr/>
                    <a:lstStyle/>
                    <a:p>
                      <a:pPr>
                        <a:buNone/>
                      </a:pPr>
                      <a:r>
                        <a:rPr lang="en-IN" b="1" dirty="0"/>
                        <a:t>Product</a:t>
                      </a:r>
                    </a:p>
                  </a:txBody>
                  <a:tcPr anchor="ctr">
                    <a:lnL>
                      <a:noFill/>
                    </a:lnL>
                    <a:lnR>
                      <a:noFill/>
                    </a:lnR>
                    <a:lnT>
                      <a:noFill/>
                    </a:lnT>
                    <a:lnB>
                      <a:noFill/>
                    </a:lnB>
                    <a:noFill/>
                  </a:tcPr>
                </a:tc>
                <a:extLst>
                  <a:ext uri="{0D108BD9-81ED-4DB2-BD59-A6C34878D82A}">
                    <a16:rowId xmlns:a16="http://schemas.microsoft.com/office/drawing/2014/main" val="560790422"/>
                  </a:ext>
                </a:extLst>
              </a:tr>
              <a:tr h="0">
                <a:tc>
                  <a:txBody>
                    <a:bodyPr/>
                    <a:lstStyle/>
                    <a:p>
                      <a:pPr>
                        <a:buNone/>
                      </a:pPr>
                      <a:r>
                        <a:rPr lang="en-IN" dirty="0"/>
                        <a:t>Webcam</a:t>
                      </a:r>
                    </a:p>
                  </a:txBody>
                  <a:tcPr anchor="ctr">
                    <a:lnL>
                      <a:noFill/>
                    </a:lnL>
                    <a:lnR>
                      <a:noFill/>
                    </a:lnR>
                    <a:lnT>
                      <a:noFill/>
                    </a:lnT>
                    <a:lnB>
                      <a:noFill/>
                    </a:lnB>
                    <a:noFill/>
                  </a:tcPr>
                </a:tc>
                <a:extLst>
                  <a:ext uri="{0D108BD9-81ED-4DB2-BD59-A6C34878D82A}">
                    <a16:rowId xmlns:a16="http://schemas.microsoft.com/office/drawing/2014/main" val="1413800155"/>
                  </a:ext>
                </a:extLst>
              </a:tr>
            </a:tbl>
          </a:graphicData>
        </a:graphic>
      </p:graphicFrame>
      <p:sp>
        <p:nvSpPr>
          <p:cNvPr id="6" name="TextBox 5">
            <a:extLst>
              <a:ext uri="{FF2B5EF4-FFF2-40B4-BE49-F238E27FC236}">
                <a16:creationId xmlns:a16="http://schemas.microsoft.com/office/drawing/2014/main" id="{3A90C1B8-F59B-2ECA-3F0E-A009C6740A17}"/>
              </a:ext>
            </a:extLst>
          </p:cNvPr>
          <p:cNvSpPr txBox="1"/>
          <p:nvPr/>
        </p:nvSpPr>
        <p:spPr>
          <a:xfrm>
            <a:off x="1096963" y="496111"/>
            <a:ext cx="6094378" cy="646331"/>
          </a:xfrm>
          <a:prstGeom prst="rect">
            <a:avLst/>
          </a:prstGeom>
          <a:noFill/>
        </p:spPr>
        <p:txBody>
          <a:bodyPr wrap="square">
            <a:spAutoFit/>
          </a:bodyPr>
          <a:lstStyle/>
          <a:p>
            <a:pPr>
              <a:buNone/>
            </a:pPr>
            <a:r>
              <a:rPr lang="en-IN" b="1" dirty="0">
                <a:latin typeface="+mj-lt"/>
              </a:rPr>
              <a:t>5</a:t>
            </a:r>
            <a:r>
              <a:rPr lang="en-IN" b="1">
                <a:latin typeface="+mj-lt"/>
              </a:rPr>
              <a:t>. </a:t>
            </a:r>
            <a:r>
              <a:rPr lang="en-IN" b="1" dirty="0">
                <a:latin typeface="+mj-lt"/>
              </a:rPr>
              <a:t>Unsold Products</a:t>
            </a:r>
          </a:p>
          <a:p>
            <a:pPr>
              <a:buNone/>
            </a:pPr>
            <a:endParaRPr lang="en-IN" dirty="0">
              <a:latin typeface="+mj-lt"/>
            </a:endParaRPr>
          </a:p>
        </p:txBody>
      </p:sp>
      <p:sp>
        <p:nvSpPr>
          <p:cNvPr id="7" name="TextBox 6">
            <a:extLst>
              <a:ext uri="{FF2B5EF4-FFF2-40B4-BE49-F238E27FC236}">
                <a16:creationId xmlns:a16="http://schemas.microsoft.com/office/drawing/2014/main" id="{BBFFACF2-0796-F239-1201-A5F4F882249F}"/>
              </a:ext>
            </a:extLst>
          </p:cNvPr>
          <p:cNvSpPr txBox="1"/>
          <p:nvPr/>
        </p:nvSpPr>
        <p:spPr>
          <a:xfrm>
            <a:off x="1096962" y="1545420"/>
            <a:ext cx="9194901" cy="369332"/>
          </a:xfrm>
          <a:prstGeom prst="rect">
            <a:avLst/>
          </a:prstGeom>
          <a:noFill/>
        </p:spPr>
        <p:txBody>
          <a:bodyPr wrap="square" rtlCol="0">
            <a:spAutoFit/>
          </a:bodyPr>
          <a:lstStyle/>
          <a:p>
            <a:r>
              <a:rPr lang="en-IN" b="1" dirty="0">
                <a:latin typeface="+mj-lt"/>
              </a:rPr>
              <a:t>    Insight:</a:t>
            </a:r>
            <a:r>
              <a:rPr lang="en-IN" dirty="0">
                <a:latin typeface="+mj-lt"/>
              </a:rPr>
              <a:t> The product may require promotional offers or inventory review.</a:t>
            </a:r>
          </a:p>
        </p:txBody>
      </p:sp>
      <p:sp>
        <p:nvSpPr>
          <p:cNvPr id="8" name="TextBox 7">
            <a:extLst>
              <a:ext uri="{FF2B5EF4-FFF2-40B4-BE49-F238E27FC236}">
                <a16:creationId xmlns:a16="http://schemas.microsoft.com/office/drawing/2014/main" id="{18648699-3C90-F4DE-5957-E7677EAC3F0C}"/>
              </a:ext>
            </a:extLst>
          </p:cNvPr>
          <p:cNvSpPr txBox="1"/>
          <p:nvPr/>
        </p:nvSpPr>
        <p:spPr>
          <a:xfrm>
            <a:off x="1310971" y="1914752"/>
            <a:ext cx="9321360" cy="4247317"/>
          </a:xfrm>
          <a:prstGeom prst="rect">
            <a:avLst/>
          </a:prstGeom>
          <a:noFill/>
        </p:spPr>
        <p:txBody>
          <a:bodyPr wrap="square" rtlCol="0">
            <a:spAutoFit/>
          </a:bodyPr>
          <a:lstStyle/>
          <a:p>
            <a:r>
              <a:rPr lang="en-IN" b="1" dirty="0">
                <a:latin typeface="+mj-lt"/>
              </a:rPr>
              <a:t>Final Conclusion</a:t>
            </a:r>
          </a:p>
          <a:p>
            <a:r>
              <a:rPr lang="en-IN" b="1" dirty="0">
                <a:latin typeface="+mj-lt"/>
              </a:rPr>
              <a:t>Conclusion</a:t>
            </a:r>
          </a:p>
          <a:p>
            <a:r>
              <a:rPr lang="en-IN" dirty="0">
                <a:latin typeface="+mj-lt"/>
              </a:rPr>
              <a:t>Electronics products are the primary source of revenue. </a:t>
            </a:r>
          </a:p>
          <a:p>
            <a:r>
              <a:rPr lang="en-IN" dirty="0">
                <a:latin typeface="+mj-lt"/>
              </a:rPr>
              <a:t>Rahul, Sneha, and Arjun are the most valuable customers. </a:t>
            </a:r>
          </a:p>
          <a:p>
            <a:r>
              <a:rPr lang="en-IN" dirty="0">
                <a:latin typeface="+mj-lt"/>
              </a:rPr>
              <a:t>Laptop and Mobile generate the highest revenue. </a:t>
            </a:r>
          </a:p>
          <a:p>
            <a:r>
              <a:rPr lang="en-IN" dirty="0">
                <a:latin typeface="+mj-lt"/>
              </a:rPr>
              <a:t>Mouse, Speaker, and Keyboard are the most frequently purchased products. </a:t>
            </a:r>
          </a:p>
          <a:p>
            <a:r>
              <a:rPr lang="en-IN" dirty="0">
                <a:latin typeface="+mj-lt"/>
              </a:rPr>
              <a:t>Some customers remain inactive, indicating opportunities for customer engagement. </a:t>
            </a:r>
          </a:p>
          <a:p>
            <a:r>
              <a:rPr lang="en-IN" dirty="0">
                <a:latin typeface="+mj-lt"/>
              </a:rPr>
              <a:t>Unsold products should be reviewed to improve inventory efficiency. </a:t>
            </a:r>
          </a:p>
          <a:p>
            <a:r>
              <a:rPr lang="en-IN" b="1" dirty="0">
                <a:latin typeface="+mj-lt"/>
              </a:rPr>
              <a:t>Business Recommendation</a:t>
            </a:r>
          </a:p>
          <a:p>
            <a:r>
              <a:rPr lang="en-IN" dirty="0">
                <a:latin typeface="+mj-lt"/>
              </a:rPr>
              <a:t>Focus marketing efforts on top-performing products and loyal customers. </a:t>
            </a:r>
          </a:p>
          <a:p>
            <a:r>
              <a:rPr lang="en-IN" dirty="0">
                <a:latin typeface="+mj-lt"/>
              </a:rPr>
              <a:t>Introduce promotional campaigns for inactive customers and unsold products. </a:t>
            </a:r>
          </a:p>
          <a:p>
            <a:r>
              <a:rPr lang="en-IN" dirty="0">
                <a:latin typeface="+mj-lt"/>
              </a:rPr>
              <a:t>Maintain sufficient inventory for high-demand products to prevent stock shortages.</a:t>
            </a:r>
          </a:p>
          <a:p>
            <a:endParaRPr lang="en-IN" dirty="0">
              <a:latin typeface="+mj-lt"/>
            </a:endParaRPr>
          </a:p>
        </p:txBody>
      </p:sp>
    </p:spTree>
    <p:extLst>
      <p:ext uri="{BB962C8B-B14F-4D97-AF65-F5344CB8AC3E}">
        <p14:creationId xmlns:p14="http://schemas.microsoft.com/office/powerpoint/2010/main" val="3358060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5" name="Title 4">
            <a:extLst>
              <a:ext uri="{FF2B5EF4-FFF2-40B4-BE49-F238E27FC236}">
                <a16:creationId xmlns:a16="http://schemas.microsoft.com/office/drawing/2014/main" id="{3DC0C65A-9314-E66A-58B0-F283C6891C5C}"/>
              </a:ext>
            </a:extLst>
          </p:cNvPr>
          <p:cNvSpPr>
            <a:spLocks noGrp="1"/>
          </p:cNvSpPr>
          <p:nvPr>
            <p:ph type="ctrTitle"/>
          </p:nvPr>
        </p:nvSpPr>
        <p:spPr/>
        <p:txBody>
          <a:bodyPr/>
          <a:lstStyle/>
          <a:p>
            <a:endParaRPr lang="en-IN"/>
          </a:p>
        </p:txBody>
      </p:sp>
      <p:pic>
        <p:nvPicPr>
          <p:cNvPr id="7" name="Picture 6">
            <a:extLst>
              <a:ext uri="{FF2B5EF4-FFF2-40B4-BE49-F238E27FC236}">
                <a16:creationId xmlns:a16="http://schemas.microsoft.com/office/drawing/2014/main" id="{324196EA-EC3A-051C-2B14-CC8D765E38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12190459" cy="5671225"/>
          </a:xfrm>
          <a:prstGeom prst="rect">
            <a:avLst/>
          </a:prstGeom>
        </p:spPr>
      </p:pic>
    </p:spTree>
    <p:extLst>
      <p:ext uri="{BB962C8B-B14F-4D97-AF65-F5344CB8AC3E}">
        <p14:creationId xmlns:p14="http://schemas.microsoft.com/office/powerpoint/2010/main" val="191714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{A0325D8F-D309-4DE8-803D-89EDD0983C35}TFf0a5ceae-4542-492d-822e-d65a94fb0e1e3b562c5a_win32-009a0557e699</Template>
  <TotalTime>1949</TotalTime>
  <Words>1419</Words>
  <Application>Microsoft Office PowerPoint</Application>
  <PresentationFormat>Widescreen</PresentationFormat>
  <Paragraphs>149</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Agency FB</vt:lpstr>
      <vt:lpstr>Arial</vt:lpstr>
      <vt:lpstr>Bahnschrift Condensed</vt:lpstr>
      <vt:lpstr>Bookman Old Style</vt:lpstr>
      <vt:lpstr>Calibri</vt:lpstr>
      <vt:lpstr>Franklin Gothic Book</vt:lpstr>
      <vt:lpstr>Custom</vt:lpstr>
      <vt:lpstr>MySQL Queries on E-Commerce platform</vt:lpstr>
      <vt:lpstr>Introduction</vt:lpstr>
      <vt:lpstr>PowerPoint Presentation</vt:lpstr>
      <vt:lpstr>MAIN ENTIES(TABLES)</vt:lpstr>
      <vt:lpstr>Tables Creation</vt:lpstr>
      <vt:lpstr>Scenarios</vt:lpstr>
      <vt:lpstr>Query to list all Orders and their details?</vt:lpstr>
      <vt:lpstr>Queries(Basic SELECT)</vt:lpstr>
      <vt:lpstr>2.List all orders placed in February 2025.</vt:lpstr>
      <vt:lpstr>3.Display unique product names.</vt:lpstr>
      <vt:lpstr>QUERIES(Aggregate Functions)</vt:lpstr>
      <vt:lpstr>5.Find the average product price.</vt:lpstr>
      <vt:lpstr>6.Find the most expensive product.</vt:lpstr>
      <vt:lpstr>7.Count products in each category.</vt:lpstr>
      <vt:lpstr>8.Count orders placed by each customer.</vt:lpstr>
      <vt:lpstr>Joins</vt:lpstr>
      <vt:lpstr>10.Find total sales quantity by category.</vt:lpstr>
      <vt:lpstr>11.Show customers who placed more than 1 order.</vt:lpstr>
      <vt:lpstr>12. Display order details with product names.</vt:lpstr>
      <vt:lpstr>13. Show customer names and products they purchased.</vt:lpstr>
      <vt:lpstr>14.Find products priced above the average price.</vt:lpstr>
      <vt:lpstr>15.Find customers who purchased the most expensive product.</vt:lpstr>
      <vt:lpstr>E-Commerce Sales Analysis – Key Findings &amp; Conclusion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Sumanth Gangadhari</dc:creator>
  <cp:lastModifiedBy>Sumanth Gangadhari</cp:lastModifiedBy>
  <cp:revision>18</cp:revision>
  <dcterms:created xsi:type="dcterms:W3CDTF">2026-06-13T08:15:33Z</dcterms:created>
  <dcterms:modified xsi:type="dcterms:W3CDTF">2026-06-18T15:12:17Z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